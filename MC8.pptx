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4" r:id="rId2"/>
    <p:sldId id="268" r:id="rId3"/>
    <p:sldId id="265" r:id="rId4"/>
    <p:sldId id="269" r:id="rId5"/>
    <p:sldId id="262" r:id="rId6"/>
    <p:sldId id="256" r:id="rId7"/>
    <p:sldId id="257" r:id="rId8"/>
    <p:sldId id="258" r:id="rId9"/>
    <p:sldId id="259" r:id="rId10"/>
    <p:sldId id="260" r:id="rId11"/>
    <p:sldId id="261" r:id="rId12"/>
    <p:sldId id="263" r:id="rId13"/>
    <p:sldId id="266" r:id="rId14"/>
    <p:sldId id="267" r:id="rId1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7" autoAdjust="0"/>
    <p:restoredTop sz="94660"/>
  </p:normalViewPr>
  <p:slideViewPr>
    <p:cSldViewPr snapToGrid="0">
      <p:cViewPr varScale="1">
        <p:scale>
          <a:sx n="103" d="100"/>
          <a:sy n="103" d="100"/>
        </p:scale>
        <p:origin x="2074"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5339B3D-D54B-4A71-BAD3-52665AB11A2C}" type="datetimeFigureOut">
              <a:rPr lang="en-US" smtClean="0"/>
              <a:t>12/28/2025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6399094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5339B3D-D54B-4A71-BAD3-52665AB11A2C}" type="datetimeFigureOut">
              <a:rPr lang="en-US" smtClean="0"/>
              <a:t>12/28/2025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BD520C-FACA-4E41-8EE5-A0FBA4B89EB6}" type="slidenum">
              <a:rPr lang="en-US" smtClean="0"/>
              <a:t>‹#›</a:t>
            </a:fld>
            <a:endParaRPr lang="en-US" dirty="0"/>
          </a:p>
        </p:txBody>
      </p:sp>
    </p:spTree>
    <p:extLst>
      <p:ext uri="{BB962C8B-B14F-4D97-AF65-F5344CB8AC3E}">
        <p14:creationId xmlns:p14="http://schemas.microsoft.com/office/powerpoint/2010/main" val="3361757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5339B3D-D54B-4A71-BAD3-52665AB11A2C}" type="datetimeFigureOut">
              <a:rPr lang="en-US" smtClean="0"/>
              <a:t>12/28/2025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12168683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5339B3D-D54B-4A71-BAD3-52665AB11A2C}" type="datetimeFigureOut">
              <a:rPr lang="en-US" smtClean="0"/>
              <a:t>12/28/2025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844811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5339B3D-D54B-4A71-BAD3-52665AB11A2C}" type="datetimeFigureOut">
              <a:rPr lang="en-US" smtClean="0"/>
              <a:t>12/28/2025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822010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5339B3D-D54B-4A71-BAD3-52665AB11A2C}" type="datetimeFigureOut">
              <a:rPr lang="en-US" smtClean="0"/>
              <a:t>12/28/2025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17450558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5339B3D-D54B-4A71-BAD3-52665AB11A2C}" type="datetimeFigureOut">
              <a:rPr lang="en-US" smtClean="0"/>
              <a:t>12/28/2025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1992896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5339B3D-D54B-4A71-BAD3-52665AB11A2C}" type="datetimeFigureOut">
              <a:rPr lang="en-US" smtClean="0"/>
              <a:t>12/28/2025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23648236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5339B3D-D54B-4A71-BAD3-52665AB11A2C}" type="datetimeFigureOut">
              <a:rPr lang="en-US" smtClean="0"/>
              <a:t>12/28/2025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87331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5339B3D-D54B-4A71-BAD3-52665AB11A2C}" type="datetimeFigureOut">
              <a:rPr lang="en-US" smtClean="0"/>
              <a:t>12/28/2025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20627279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5339B3D-D54B-4A71-BAD3-52665AB11A2C}" type="datetimeFigureOut">
              <a:rPr lang="en-US" smtClean="0"/>
              <a:t>12/28/2025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1600081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5339B3D-D54B-4A71-BAD3-52665AB11A2C}" type="datetimeFigureOut">
              <a:rPr lang="en-US" smtClean="0"/>
              <a:t>12/28/2025</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EBD520C-FACA-4E41-8EE5-A0FBA4B89EB6}" type="slidenum">
              <a:rPr lang="en-US" smtClean="0"/>
              <a:t>‹#›</a:t>
            </a:fld>
            <a:endParaRPr lang="en-US"/>
          </a:p>
        </p:txBody>
      </p:sp>
    </p:spTree>
    <p:extLst>
      <p:ext uri="{BB962C8B-B14F-4D97-AF65-F5344CB8AC3E}">
        <p14:creationId xmlns:p14="http://schemas.microsoft.com/office/powerpoint/2010/main" val="78485752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WidnerM/GP-MC8/releases"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75558BA-5A1D-B68E-AE07-D33B5BB62573}"/>
              </a:ext>
            </a:extLst>
          </p:cNvPr>
          <p:cNvPicPr>
            <a:picLocks noChangeAspect="1"/>
          </p:cNvPicPr>
          <p:nvPr/>
        </p:nvPicPr>
        <p:blipFill>
          <a:blip r:embed="rId2"/>
          <a:srcRect t="7638" b="23436"/>
          <a:stretch>
            <a:fillRect/>
          </a:stretch>
        </p:blipFill>
        <p:spPr>
          <a:xfrm>
            <a:off x="84842" y="1365275"/>
            <a:ext cx="8964891" cy="4650685"/>
          </a:xfrm>
          <a:prstGeom prst="rect">
            <a:avLst/>
          </a:prstGeom>
        </p:spPr>
      </p:pic>
      <p:sp>
        <p:nvSpPr>
          <p:cNvPr id="4" name="TextBox 3">
            <a:extLst>
              <a:ext uri="{FF2B5EF4-FFF2-40B4-BE49-F238E27FC236}">
                <a16:creationId xmlns:a16="http://schemas.microsoft.com/office/drawing/2014/main" id="{AE3C4EB3-9D0F-8B8A-62FB-FBD8F8E1184F}"/>
              </a:ext>
            </a:extLst>
          </p:cNvPr>
          <p:cNvSpPr txBox="1"/>
          <p:nvPr/>
        </p:nvSpPr>
        <p:spPr>
          <a:xfrm>
            <a:off x="1963910" y="154464"/>
            <a:ext cx="5129546" cy="369332"/>
          </a:xfrm>
          <a:prstGeom prst="rect">
            <a:avLst/>
          </a:prstGeom>
          <a:noFill/>
        </p:spPr>
        <p:txBody>
          <a:bodyPr wrap="none" rtlCol="0">
            <a:spAutoFit/>
          </a:bodyPr>
          <a:lstStyle/>
          <a:p>
            <a:r>
              <a:rPr lang="en-US" b="1" dirty="0"/>
              <a:t>The Morningstar MC8/MC6 </a:t>
            </a:r>
            <a:r>
              <a:rPr lang="en-US" b="1" dirty="0" err="1"/>
              <a:t>GigPerformer</a:t>
            </a:r>
            <a:r>
              <a:rPr lang="en-US" b="1" dirty="0"/>
              <a:t> Extension</a:t>
            </a:r>
          </a:p>
        </p:txBody>
      </p:sp>
      <p:sp>
        <p:nvSpPr>
          <p:cNvPr id="5" name="TextBox 4">
            <a:extLst>
              <a:ext uri="{FF2B5EF4-FFF2-40B4-BE49-F238E27FC236}">
                <a16:creationId xmlns:a16="http://schemas.microsoft.com/office/drawing/2014/main" id="{D06FE5EC-2888-1083-592D-F387DF322BFB}"/>
              </a:ext>
            </a:extLst>
          </p:cNvPr>
          <p:cNvSpPr txBox="1"/>
          <p:nvPr/>
        </p:nvSpPr>
        <p:spPr>
          <a:xfrm>
            <a:off x="3850936" y="566452"/>
            <a:ext cx="1442126" cy="338554"/>
          </a:xfrm>
          <a:prstGeom prst="rect">
            <a:avLst/>
          </a:prstGeom>
          <a:noFill/>
        </p:spPr>
        <p:txBody>
          <a:bodyPr wrap="none" rtlCol="0">
            <a:spAutoFit/>
          </a:bodyPr>
          <a:lstStyle/>
          <a:p>
            <a:r>
              <a:rPr lang="en-US" sz="1600" dirty="0"/>
              <a:t>A Typical Setup</a:t>
            </a:r>
          </a:p>
        </p:txBody>
      </p:sp>
      <p:sp>
        <p:nvSpPr>
          <p:cNvPr id="6" name="TextBox 5">
            <a:extLst>
              <a:ext uri="{FF2B5EF4-FFF2-40B4-BE49-F238E27FC236}">
                <a16:creationId xmlns:a16="http://schemas.microsoft.com/office/drawing/2014/main" id="{C2C2F3C8-0104-671F-D7B2-342F6FD62DA7}"/>
              </a:ext>
            </a:extLst>
          </p:cNvPr>
          <p:cNvSpPr txBox="1"/>
          <p:nvPr/>
        </p:nvSpPr>
        <p:spPr>
          <a:xfrm>
            <a:off x="3491575" y="907817"/>
            <a:ext cx="2160848" cy="338554"/>
          </a:xfrm>
          <a:prstGeom prst="rect">
            <a:avLst/>
          </a:prstGeom>
          <a:noFill/>
        </p:spPr>
        <p:txBody>
          <a:bodyPr wrap="none" rtlCol="0">
            <a:spAutoFit/>
          </a:bodyPr>
          <a:lstStyle/>
          <a:p>
            <a:r>
              <a:rPr lang="en-US" sz="1600" dirty="0"/>
              <a:t>Rackspace/Song Selects</a:t>
            </a:r>
          </a:p>
        </p:txBody>
      </p:sp>
      <p:cxnSp>
        <p:nvCxnSpPr>
          <p:cNvPr id="8" name="Connector: Elbow 7">
            <a:extLst>
              <a:ext uri="{FF2B5EF4-FFF2-40B4-BE49-F238E27FC236}">
                <a16:creationId xmlns:a16="http://schemas.microsoft.com/office/drawing/2014/main" id="{6529A191-F52A-16A1-6B2F-EEBB9C40D721}"/>
              </a:ext>
            </a:extLst>
          </p:cNvPr>
          <p:cNvCxnSpPr>
            <a:cxnSpLocks/>
            <a:stCxn id="6" idx="1"/>
          </p:cNvCxnSpPr>
          <p:nvPr/>
        </p:nvCxnSpPr>
        <p:spPr>
          <a:xfrm rot="10800000" flipV="1">
            <a:off x="2622433" y="1077094"/>
            <a:ext cx="869142" cy="553298"/>
          </a:xfrm>
          <a:prstGeom prst="bentConnector3">
            <a:avLst>
              <a:gd name="adj1" fmla="val 100619"/>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78F67D5-A3DF-CEBA-7AD4-4DEF2501C84A}"/>
              </a:ext>
            </a:extLst>
          </p:cNvPr>
          <p:cNvCxnSpPr/>
          <p:nvPr/>
        </p:nvCxnSpPr>
        <p:spPr>
          <a:xfrm>
            <a:off x="3925017" y="1246371"/>
            <a:ext cx="0" cy="3840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C605E07-ABFA-B50C-C36D-AECF4A34B790}"/>
              </a:ext>
            </a:extLst>
          </p:cNvPr>
          <p:cNvCxnSpPr/>
          <p:nvPr/>
        </p:nvCxnSpPr>
        <p:spPr>
          <a:xfrm>
            <a:off x="5216099" y="1243497"/>
            <a:ext cx="0" cy="3840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nector: Elbow 13">
            <a:extLst>
              <a:ext uri="{FF2B5EF4-FFF2-40B4-BE49-F238E27FC236}">
                <a16:creationId xmlns:a16="http://schemas.microsoft.com/office/drawing/2014/main" id="{A05635BE-7B58-A039-8491-A64096708845}"/>
              </a:ext>
            </a:extLst>
          </p:cNvPr>
          <p:cNvCxnSpPr>
            <a:cxnSpLocks/>
            <a:stCxn id="6" idx="3"/>
          </p:cNvCxnSpPr>
          <p:nvPr/>
        </p:nvCxnSpPr>
        <p:spPr>
          <a:xfrm>
            <a:off x="5652423" y="1077094"/>
            <a:ext cx="927716" cy="553297"/>
          </a:xfrm>
          <a:prstGeom prst="bentConnector3">
            <a:avLst>
              <a:gd name="adj1" fmla="val 10021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40EC7A9B-47F3-D47A-5C4C-5E4B1224DE78}"/>
              </a:ext>
            </a:extLst>
          </p:cNvPr>
          <p:cNvSpPr txBox="1"/>
          <p:nvPr/>
        </p:nvSpPr>
        <p:spPr>
          <a:xfrm>
            <a:off x="3376931" y="4205654"/>
            <a:ext cx="2393091" cy="338554"/>
          </a:xfrm>
          <a:prstGeom prst="rect">
            <a:avLst/>
          </a:prstGeom>
          <a:noFill/>
        </p:spPr>
        <p:txBody>
          <a:bodyPr wrap="none" rtlCol="0">
            <a:spAutoFit/>
          </a:bodyPr>
          <a:lstStyle/>
          <a:p>
            <a:r>
              <a:rPr lang="en-US" sz="1600" dirty="0">
                <a:solidFill>
                  <a:schemeClr val="bg1"/>
                </a:solidFill>
              </a:rPr>
              <a:t>Variation / </a:t>
            </a:r>
            <a:r>
              <a:rPr lang="en-US" sz="1600" dirty="0" err="1">
                <a:solidFill>
                  <a:schemeClr val="bg1"/>
                </a:solidFill>
              </a:rPr>
              <a:t>Songpart</a:t>
            </a:r>
            <a:r>
              <a:rPr lang="en-US" sz="1600" dirty="0">
                <a:solidFill>
                  <a:schemeClr val="bg1"/>
                </a:solidFill>
              </a:rPr>
              <a:t> select</a:t>
            </a:r>
          </a:p>
        </p:txBody>
      </p:sp>
      <p:cxnSp>
        <p:nvCxnSpPr>
          <p:cNvPr id="19" name="Straight Arrow Connector 18">
            <a:extLst>
              <a:ext uri="{FF2B5EF4-FFF2-40B4-BE49-F238E27FC236}">
                <a16:creationId xmlns:a16="http://schemas.microsoft.com/office/drawing/2014/main" id="{5E5DFD12-3E99-9B01-6936-D6554982A24F}"/>
              </a:ext>
            </a:extLst>
          </p:cNvPr>
          <p:cNvCxnSpPr>
            <a:cxnSpLocks/>
          </p:cNvCxnSpPr>
          <p:nvPr/>
        </p:nvCxnSpPr>
        <p:spPr>
          <a:xfrm flipV="1">
            <a:off x="5295520" y="4075800"/>
            <a:ext cx="0" cy="12939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8D7E76A-8973-64F7-74AC-10B46383A894}"/>
              </a:ext>
            </a:extLst>
          </p:cNvPr>
          <p:cNvCxnSpPr>
            <a:cxnSpLocks/>
          </p:cNvCxnSpPr>
          <p:nvPr/>
        </p:nvCxnSpPr>
        <p:spPr>
          <a:xfrm flipV="1">
            <a:off x="3796707" y="4075800"/>
            <a:ext cx="0" cy="12939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7E5FE5D-F42B-7F8C-3FCF-076F5130555D}"/>
              </a:ext>
            </a:extLst>
          </p:cNvPr>
          <p:cNvCxnSpPr>
            <a:cxnSpLocks/>
          </p:cNvCxnSpPr>
          <p:nvPr/>
        </p:nvCxnSpPr>
        <p:spPr>
          <a:xfrm flipV="1">
            <a:off x="2252384" y="4075800"/>
            <a:ext cx="0" cy="12939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295804F-60AA-3631-0AA6-FE04D96D2A04}"/>
              </a:ext>
            </a:extLst>
          </p:cNvPr>
          <p:cNvCxnSpPr>
            <a:cxnSpLocks/>
          </p:cNvCxnSpPr>
          <p:nvPr/>
        </p:nvCxnSpPr>
        <p:spPr>
          <a:xfrm flipV="1">
            <a:off x="6816515" y="4075800"/>
            <a:ext cx="0" cy="12939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BC613C10-0154-BCE1-5F73-5C083675B4A4}"/>
              </a:ext>
            </a:extLst>
          </p:cNvPr>
          <p:cNvSpPr txBox="1"/>
          <p:nvPr/>
        </p:nvSpPr>
        <p:spPr>
          <a:xfrm>
            <a:off x="2204735" y="6065608"/>
            <a:ext cx="2356158" cy="338554"/>
          </a:xfrm>
          <a:prstGeom prst="rect">
            <a:avLst/>
          </a:prstGeom>
          <a:noFill/>
        </p:spPr>
        <p:txBody>
          <a:bodyPr wrap="none" rtlCol="0">
            <a:spAutoFit/>
          </a:bodyPr>
          <a:lstStyle/>
          <a:p>
            <a:r>
              <a:rPr lang="en-US" sz="1600" dirty="0"/>
              <a:t>Rack/Song Page Up/Down</a:t>
            </a:r>
          </a:p>
        </p:txBody>
      </p:sp>
      <p:cxnSp>
        <p:nvCxnSpPr>
          <p:cNvPr id="25" name="Straight Arrow Connector 24">
            <a:extLst>
              <a:ext uri="{FF2B5EF4-FFF2-40B4-BE49-F238E27FC236}">
                <a16:creationId xmlns:a16="http://schemas.microsoft.com/office/drawing/2014/main" id="{F8CAF8C5-BBE2-ADFE-83E1-AB20A8C5B5DB}"/>
              </a:ext>
            </a:extLst>
          </p:cNvPr>
          <p:cNvCxnSpPr>
            <a:cxnSpLocks/>
          </p:cNvCxnSpPr>
          <p:nvPr/>
        </p:nvCxnSpPr>
        <p:spPr>
          <a:xfrm flipV="1">
            <a:off x="2509129" y="5896998"/>
            <a:ext cx="0" cy="165738"/>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E2A03249-9A7D-9A94-1B37-540CB45DEE0D}"/>
              </a:ext>
            </a:extLst>
          </p:cNvPr>
          <p:cNvCxnSpPr>
            <a:cxnSpLocks/>
          </p:cNvCxnSpPr>
          <p:nvPr/>
        </p:nvCxnSpPr>
        <p:spPr>
          <a:xfrm flipV="1">
            <a:off x="4230296" y="5896998"/>
            <a:ext cx="0" cy="165738"/>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42934606-3C8F-3907-7DCA-8D594D7BFD85}"/>
              </a:ext>
            </a:extLst>
          </p:cNvPr>
          <p:cNvSpPr txBox="1"/>
          <p:nvPr/>
        </p:nvSpPr>
        <p:spPr>
          <a:xfrm>
            <a:off x="4800367" y="6065608"/>
            <a:ext cx="2082430" cy="338554"/>
          </a:xfrm>
          <a:prstGeom prst="rect">
            <a:avLst/>
          </a:prstGeom>
          <a:noFill/>
        </p:spPr>
        <p:txBody>
          <a:bodyPr wrap="none" rtlCol="0">
            <a:spAutoFit/>
          </a:bodyPr>
          <a:lstStyle/>
          <a:p>
            <a:r>
              <a:rPr lang="en-US" sz="1600" dirty="0"/>
              <a:t>Widget Page Up/Down</a:t>
            </a:r>
          </a:p>
        </p:txBody>
      </p:sp>
      <p:cxnSp>
        <p:nvCxnSpPr>
          <p:cNvPr id="28" name="Straight Arrow Connector 27">
            <a:extLst>
              <a:ext uri="{FF2B5EF4-FFF2-40B4-BE49-F238E27FC236}">
                <a16:creationId xmlns:a16="http://schemas.microsoft.com/office/drawing/2014/main" id="{BECA7DE0-2661-806D-50C4-7436B7CE43FB}"/>
              </a:ext>
            </a:extLst>
          </p:cNvPr>
          <p:cNvCxnSpPr>
            <a:cxnSpLocks/>
          </p:cNvCxnSpPr>
          <p:nvPr/>
        </p:nvCxnSpPr>
        <p:spPr>
          <a:xfrm flipV="1">
            <a:off x="5009240" y="5896998"/>
            <a:ext cx="0" cy="165738"/>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9317C48-B8D4-8915-4A80-A8154D32D9C0}"/>
              </a:ext>
            </a:extLst>
          </p:cNvPr>
          <p:cNvCxnSpPr>
            <a:cxnSpLocks/>
          </p:cNvCxnSpPr>
          <p:nvPr/>
        </p:nvCxnSpPr>
        <p:spPr>
          <a:xfrm flipV="1">
            <a:off x="6711553" y="5896998"/>
            <a:ext cx="0" cy="165738"/>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 name="AutoShape 2">
            <a:extLst>
              <a:ext uri="{FF2B5EF4-FFF2-40B4-BE49-F238E27FC236}">
                <a16:creationId xmlns:a16="http://schemas.microsoft.com/office/drawing/2014/main" id="{87378505-3860-23E2-3A42-E2225A9D162E}"/>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8796315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6063198"/>
          </a:xfrm>
          <a:prstGeom prst="rect">
            <a:avLst/>
          </a:prstGeom>
          <a:noFill/>
        </p:spPr>
        <p:txBody>
          <a:bodyPr wrap="square" rtlCol="0">
            <a:spAutoFit/>
          </a:bodyPr>
          <a:lstStyle/>
          <a:p>
            <a:r>
              <a:rPr lang="en-US" sz="1400" b="1" dirty="0"/>
              <a:t>Getting Started with the </a:t>
            </a:r>
            <a:r>
              <a:rPr lang="en-US" sz="1400" b="1" dirty="0" err="1"/>
              <a:t>MCx</a:t>
            </a:r>
            <a:r>
              <a:rPr lang="en-US" sz="1400" b="1" dirty="0"/>
              <a:t> Extension</a:t>
            </a:r>
          </a:p>
          <a:p>
            <a:r>
              <a:rPr lang="en-US" sz="1200" dirty="0"/>
              <a:t>Follow these simple steps to get started:</a:t>
            </a:r>
          </a:p>
          <a:p>
            <a:pPr marL="628650" lvl="1" indent="-171450">
              <a:buFont typeface="Arial" panose="020B0604020202020204" pitchFamily="34" charset="0"/>
              <a:buChar char="•"/>
            </a:pPr>
            <a:r>
              <a:rPr lang="en-US" sz="1200" dirty="0"/>
              <a:t>Download the zip file for your platform (Mac or Windows) from </a:t>
            </a:r>
            <a:r>
              <a:rPr lang="en-US" sz="1200" dirty="0">
                <a:hlinkClick r:id="rId2"/>
              </a:rPr>
              <a:t>Releases · </a:t>
            </a:r>
            <a:r>
              <a:rPr lang="en-US" sz="1200" dirty="0" err="1">
                <a:hlinkClick r:id="rId2"/>
              </a:rPr>
              <a:t>WidnerM</a:t>
            </a:r>
            <a:r>
              <a:rPr lang="en-US" sz="1200" dirty="0">
                <a:hlinkClick r:id="rId2"/>
              </a:rPr>
              <a:t>/GP-MC8 (github.com)</a:t>
            </a:r>
            <a:endParaRPr lang="en-US" sz="1200" dirty="0"/>
          </a:p>
          <a:p>
            <a:pPr marL="628650" lvl="1" indent="-171450">
              <a:buFont typeface="Arial" panose="020B0604020202020204" pitchFamily="34" charset="0"/>
              <a:buChar char="•"/>
            </a:pPr>
            <a:r>
              <a:rPr lang="en-US" sz="1200" dirty="0"/>
              <a:t>From the zip file install the extension (.</a:t>
            </a:r>
            <a:r>
              <a:rPr lang="en-US" sz="1200" dirty="0" err="1"/>
              <a:t>dylib</a:t>
            </a:r>
            <a:r>
              <a:rPr lang="en-US" sz="1200" dirty="0"/>
              <a:t> for Mac, .</a:t>
            </a:r>
            <a:r>
              <a:rPr lang="en-US" sz="1200" dirty="0" err="1"/>
              <a:t>dll</a:t>
            </a:r>
            <a:r>
              <a:rPr lang="en-US" sz="1200" dirty="0"/>
              <a:t> for Windows) to the appropriate </a:t>
            </a:r>
            <a:r>
              <a:rPr lang="en-US" sz="1200" dirty="0" err="1"/>
              <a:t>GigPerformer</a:t>
            </a:r>
            <a:r>
              <a:rPr lang="en-US" sz="1200" dirty="0"/>
              <a:t> folder</a:t>
            </a:r>
          </a:p>
          <a:p>
            <a:pPr marL="1085850" lvl="2" indent="-171450">
              <a:buFont typeface="Arial" panose="020B0604020202020204" pitchFamily="34" charset="0"/>
              <a:buChar char="•"/>
            </a:pPr>
            <a:r>
              <a:rPr lang="en-US" sz="1200" dirty="0"/>
              <a:t>/Users/Shared/Gig Performer/Extensions on Mac</a:t>
            </a:r>
          </a:p>
          <a:p>
            <a:pPr marL="1085850" lvl="2" indent="-171450">
              <a:buFont typeface="Arial" panose="020B0604020202020204" pitchFamily="34" charset="0"/>
              <a:buChar char="•"/>
            </a:pPr>
            <a:r>
              <a:rPr lang="en-US" sz="1200" dirty="0"/>
              <a:t>C:/Users/Public/Documents/Gig Performer/Extensions on Windows</a:t>
            </a:r>
          </a:p>
          <a:p>
            <a:pPr marL="628650" lvl="1" indent="-171450">
              <a:buFont typeface="Arial" panose="020B0604020202020204" pitchFamily="34" charset="0"/>
              <a:buChar char="•"/>
            </a:pPr>
            <a:r>
              <a:rPr lang="en-US" sz="1200" dirty="0"/>
              <a:t>Install the appropriate bank preset from the release into any open bank your controller using the Morningstar editor. In the editor choose “Controller Backup” then scroll down to “Restore controller presets” and select the </a:t>
            </a:r>
            <a:r>
              <a:rPr lang="en-US" sz="1200" dirty="0" err="1"/>
              <a:t>json</a:t>
            </a:r>
            <a:r>
              <a:rPr lang="en-US" sz="1200" dirty="0"/>
              <a:t> file</a:t>
            </a:r>
          </a:p>
          <a:p>
            <a:pPr marL="628650" lvl="1" indent="-171450">
              <a:buFont typeface="Arial" panose="020B0604020202020204" pitchFamily="34" charset="0"/>
              <a:buChar char="•"/>
            </a:pPr>
            <a:r>
              <a:rPr lang="en-US" sz="1200" dirty="0"/>
              <a:t>Load the Demo </a:t>
            </a:r>
            <a:r>
              <a:rPr lang="en-US" sz="1200" dirty="0" err="1"/>
              <a:t>gigfile</a:t>
            </a:r>
            <a:r>
              <a:rPr lang="en-US" sz="1200" dirty="0"/>
              <a:t> from the zip file in </a:t>
            </a:r>
            <a:r>
              <a:rPr lang="en-US" sz="1200" dirty="0" err="1"/>
              <a:t>GigPerformer</a:t>
            </a:r>
            <a:endParaRPr lang="en-US" sz="1200" dirty="0"/>
          </a:p>
          <a:p>
            <a:endParaRPr lang="en-US" sz="1200" dirty="0"/>
          </a:p>
          <a:p>
            <a:r>
              <a:rPr lang="en-US" sz="1200" dirty="0"/>
              <a:t>All behavior of the extension is controlled by widgets in </a:t>
            </a:r>
            <a:r>
              <a:rPr lang="en-US" sz="1200" dirty="0" err="1"/>
              <a:t>GigPerformer</a:t>
            </a:r>
            <a:r>
              <a:rPr lang="en-US" sz="1200" dirty="0"/>
              <a:t>.  This can get rather extensive, as the rest of this document describes.  It may be easier to start simple before trying to make things too complex.</a:t>
            </a:r>
          </a:p>
          <a:p>
            <a:endParaRPr lang="en-US" sz="1200" b="1" dirty="0"/>
          </a:p>
          <a:p>
            <a:endParaRPr lang="en-US" sz="1200" b="1" dirty="0"/>
          </a:p>
          <a:p>
            <a:r>
              <a:rPr lang="en-US" sz="1400" b="1" dirty="0"/>
              <a:t>Important Configuration Widgets</a:t>
            </a:r>
          </a:p>
          <a:p>
            <a:endParaRPr lang="en-US" sz="1200" dirty="0"/>
          </a:p>
          <a:p>
            <a:r>
              <a:rPr lang="en-US" sz="1200" dirty="0"/>
              <a:t>The extension needs to know how to communicate with your controller.  It tries to find the right port automatically, but if it cannot find it the extension looks for the correct name in three text widgets that should be created in the Global Rackspace.</a:t>
            </a:r>
          </a:p>
          <a:p>
            <a:endParaRPr lang="en-US" sz="1200" dirty="0"/>
          </a:p>
          <a:p>
            <a:r>
              <a:rPr lang="en-US" sz="1200" dirty="0"/>
              <a:t>These widgets are named (on the Advanced tab in the “OSC/</a:t>
            </a:r>
            <a:r>
              <a:rPr lang="en-US" sz="1200" dirty="0" err="1"/>
              <a:t>GPScript</a:t>
            </a:r>
            <a:r>
              <a:rPr lang="en-US" sz="1200" dirty="0"/>
              <a:t> Name” field) as follows:</a:t>
            </a:r>
          </a:p>
          <a:p>
            <a:pPr marL="628650" lvl="1" indent="-171450">
              <a:buFont typeface="Arial" panose="020B0604020202020204" pitchFamily="34" charset="0"/>
              <a:buChar char="•"/>
            </a:pPr>
            <a:r>
              <a:rPr lang="en-US" sz="1200" dirty="0"/>
              <a:t>“</a:t>
            </a:r>
            <a:r>
              <a:rPr lang="en-US" sz="1200" dirty="0" err="1"/>
              <a:t>mcx_midiin</a:t>
            </a:r>
            <a:r>
              <a:rPr lang="en-US" sz="1200" dirty="0"/>
              <a:t>” – the midi in port exactly as it appears on your system and under the Options -&gt; MIDI Ports menu item</a:t>
            </a:r>
          </a:p>
          <a:p>
            <a:pPr marL="628650" lvl="1" indent="-171450">
              <a:buFont typeface="Arial" panose="020B0604020202020204" pitchFamily="34" charset="0"/>
              <a:buChar char="•"/>
            </a:pPr>
            <a:r>
              <a:rPr lang="en-US" sz="1200" dirty="0"/>
              <a:t>“</a:t>
            </a:r>
            <a:r>
              <a:rPr lang="en-US" sz="1200" dirty="0" err="1"/>
              <a:t>mcx_midiout</a:t>
            </a:r>
            <a:r>
              <a:rPr lang="en-US" sz="1200" dirty="0"/>
              <a:t>” – as above for the out port</a:t>
            </a:r>
          </a:p>
          <a:p>
            <a:pPr marL="628650" lvl="1" indent="-171450">
              <a:buFont typeface="Arial" panose="020B0604020202020204" pitchFamily="34" charset="0"/>
              <a:buChar char="•"/>
            </a:pPr>
            <a:r>
              <a:rPr lang="en-US" sz="1200" dirty="0"/>
              <a:t>“</a:t>
            </a:r>
            <a:r>
              <a:rPr lang="en-US" sz="1200" dirty="0" err="1"/>
              <a:t>mcx_layout</a:t>
            </a:r>
            <a:r>
              <a:rPr lang="en-US" sz="1200" dirty="0"/>
              <a:t>” – the type of device you have as either “mc8”, “mc6”, or “mc6 pro”</a:t>
            </a:r>
          </a:p>
          <a:p>
            <a:pPr lvl="1"/>
            <a:endParaRPr lang="en-US" sz="1200" dirty="0"/>
          </a:p>
          <a:p>
            <a:r>
              <a:rPr lang="en-US" sz="1200" dirty="0"/>
              <a:t>The extension should find your controller’s MIDI ports by default, but if it does not you should set those widgets</a:t>
            </a:r>
            <a:r>
              <a:rPr lang="sv-SE" sz="1200" dirty="0"/>
              <a:t>.</a:t>
            </a:r>
          </a:p>
          <a:p>
            <a:endParaRPr lang="sv-SE" sz="1200" dirty="0"/>
          </a:p>
          <a:p>
            <a:r>
              <a:rPr lang="sv-SE" sz="1200" dirty="0"/>
              <a:t>As long as the mcx_layout widget alread exists in the Global Rackspace you can change it through the GP menus by selecting Extensions -&gt; MC8 Extension -&gt; [your device type].</a:t>
            </a:r>
          </a:p>
          <a:p>
            <a:endParaRPr lang="sv-SE" sz="1200" dirty="0"/>
          </a:p>
          <a:p>
            <a:r>
              <a:rPr lang="en-US" sz="1200" dirty="0"/>
              <a:t>A widget named “</a:t>
            </a:r>
            <a:r>
              <a:rPr lang="en-US" sz="1200" dirty="0" err="1"/>
              <a:t>mcx_initial_row_config</a:t>
            </a:r>
            <a:r>
              <a:rPr lang="en-US" sz="1200" dirty="0"/>
              <a:t>” is optional but suggested.  It will control what appears on the top and bottom rows of your controller by default.  This is described in more detail on page 11 of this document.</a:t>
            </a:r>
          </a:p>
          <a:p>
            <a:pPr marL="628650" lvl="1" indent="-171450">
              <a:buFont typeface="Arial" panose="020B0604020202020204" pitchFamily="34" charset="0"/>
              <a:buChar char="•"/>
            </a:pPr>
            <a:endParaRPr lang="en-US" sz="1200" dirty="0"/>
          </a:p>
        </p:txBody>
      </p:sp>
    </p:spTree>
    <p:extLst>
      <p:ext uri="{BB962C8B-B14F-4D97-AF65-F5344CB8AC3E}">
        <p14:creationId xmlns:p14="http://schemas.microsoft.com/office/powerpoint/2010/main" val="31464900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5878532"/>
          </a:xfrm>
          <a:prstGeom prst="rect">
            <a:avLst/>
          </a:prstGeom>
          <a:noFill/>
        </p:spPr>
        <p:txBody>
          <a:bodyPr wrap="square" rtlCol="0">
            <a:spAutoFit/>
          </a:bodyPr>
          <a:lstStyle/>
          <a:p>
            <a:r>
              <a:rPr lang="en-US" sz="1400" b="1" dirty="0"/>
              <a:t>Design Goal of the </a:t>
            </a:r>
            <a:r>
              <a:rPr lang="en-US" sz="1400" b="1" dirty="0" err="1"/>
              <a:t>MCx</a:t>
            </a:r>
            <a:r>
              <a:rPr lang="en-US" sz="1400" b="1" dirty="0"/>
              <a:t> Extension</a:t>
            </a:r>
          </a:p>
          <a:p>
            <a:endParaRPr lang="en-US" sz="1200" dirty="0"/>
          </a:p>
          <a:p>
            <a:r>
              <a:rPr lang="en-US" sz="1200" dirty="0"/>
              <a:t>The goal for the extension was to make controlling </a:t>
            </a:r>
            <a:r>
              <a:rPr lang="en-US" sz="1200" dirty="0" err="1"/>
              <a:t>GigPerformer</a:t>
            </a:r>
            <a:r>
              <a:rPr lang="en-US" sz="1200" dirty="0"/>
              <a:t> with the MC8 simple, reliable, and flexible while keeping all configuration entirely within </a:t>
            </a:r>
            <a:r>
              <a:rPr lang="en-US" sz="1200" dirty="0" err="1"/>
              <a:t>GigPerformer</a:t>
            </a:r>
            <a:r>
              <a:rPr lang="en-US" sz="1200" dirty="0"/>
              <a:t>.  Specifically, to allow the MC8 to automatically stay in sync with any changes made in </a:t>
            </a:r>
            <a:r>
              <a:rPr lang="en-US" sz="1200" dirty="0" err="1"/>
              <a:t>Rackspaces</a:t>
            </a:r>
            <a:r>
              <a:rPr lang="en-US" sz="1200" dirty="0"/>
              <a:t>, Variations, Songs, Setlists, etc.  It has been adapted to work with the MC6 and MC6 Pro.  Collectively we’ll refer to these as </a:t>
            </a:r>
            <a:r>
              <a:rPr lang="en-US" sz="1200" dirty="0" err="1"/>
              <a:t>MCx</a:t>
            </a:r>
            <a:r>
              <a:rPr lang="en-US" sz="1200" dirty="0"/>
              <a:t>.</a:t>
            </a:r>
          </a:p>
          <a:p>
            <a:endParaRPr lang="en-US" sz="1200" dirty="0"/>
          </a:p>
          <a:p>
            <a:r>
              <a:rPr lang="en-US" sz="1200" dirty="0"/>
              <a:t>This extension requires setting one bank on the </a:t>
            </a:r>
            <a:r>
              <a:rPr lang="en-US" sz="1200" dirty="0" err="1"/>
              <a:t>MCx</a:t>
            </a:r>
            <a:r>
              <a:rPr lang="en-US" sz="1200" dirty="0"/>
              <a:t> to communicate with this </a:t>
            </a:r>
            <a:r>
              <a:rPr lang="en-US" sz="1200" dirty="0" err="1"/>
              <a:t>GigPerformer</a:t>
            </a:r>
            <a:r>
              <a:rPr lang="en-US" sz="1200" dirty="0"/>
              <a:t> extension.  Any bank can be used for this purpose.  When controlling </a:t>
            </a:r>
            <a:r>
              <a:rPr lang="en-US" sz="1200" dirty="0" err="1"/>
              <a:t>GigPerformer</a:t>
            </a:r>
            <a:r>
              <a:rPr lang="en-US" sz="1200" dirty="0"/>
              <a:t> with this extension the </a:t>
            </a:r>
            <a:r>
              <a:rPr lang="en-US" sz="1200" dirty="0" err="1"/>
              <a:t>MCx</a:t>
            </a:r>
            <a:r>
              <a:rPr lang="en-US" sz="1200" dirty="0"/>
              <a:t> will always be operating with that single bank.  To minimize risk of unintentionally overwriting your other banks, your </a:t>
            </a:r>
            <a:r>
              <a:rPr lang="en-US" sz="1200" dirty="0" err="1"/>
              <a:t>MCx</a:t>
            </a:r>
            <a:r>
              <a:rPr lang="en-US" sz="1200" dirty="0"/>
              <a:t> should be set to this </a:t>
            </a:r>
            <a:r>
              <a:rPr lang="en-US" sz="1200" dirty="0" err="1"/>
              <a:t>GigPerformer</a:t>
            </a:r>
            <a:r>
              <a:rPr lang="en-US" sz="1200" dirty="0"/>
              <a:t> bank before starting </a:t>
            </a:r>
            <a:r>
              <a:rPr lang="en-US" sz="1200" dirty="0" err="1"/>
              <a:t>GigPerformer</a:t>
            </a:r>
            <a:r>
              <a:rPr lang="en-US" sz="1200" dirty="0"/>
              <a:t> using this extension.</a:t>
            </a:r>
          </a:p>
          <a:p>
            <a:endParaRPr lang="en-US" sz="1200" dirty="0"/>
          </a:p>
          <a:p>
            <a:r>
              <a:rPr lang="en-US" sz="1200" dirty="0"/>
              <a:t>With this GP bank the user will be able to assign any number of toggle widgets to </a:t>
            </a:r>
            <a:r>
              <a:rPr lang="en-US" sz="1200" dirty="0" err="1"/>
              <a:t>MCx</a:t>
            </a:r>
            <a:r>
              <a:rPr lang="en-US" sz="1200" dirty="0"/>
              <a:t> foot switches, switch among </a:t>
            </a:r>
            <a:r>
              <a:rPr lang="en-US" sz="1200" dirty="0" err="1"/>
              <a:t>Rackspaces</a:t>
            </a:r>
            <a:r>
              <a:rPr lang="en-US" sz="1200" dirty="0"/>
              <a:t> and Variations, or Songs and </a:t>
            </a:r>
            <a:r>
              <a:rPr lang="en-US" sz="1200" dirty="0" err="1"/>
              <a:t>Songparts</a:t>
            </a:r>
            <a:r>
              <a:rPr lang="en-US" sz="1200" dirty="0"/>
              <a:t>, and the </a:t>
            </a:r>
            <a:r>
              <a:rPr lang="en-US" sz="1200" dirty="0" err="1"/>
              <a:t>MCx</a:t>
            </a:r>
            <a:r>
              <a:rPr lang="en-US" sz="1200" dirty="0"/>
              <a:t> display will stay in sync to show which button is controlling what and what its present state is.</a:t>
            </a:r>
          </a:p>
          <a:p>
            <a:endParaRPr lang="en-US" sz="1200" dirty="0"/>
          </a:p>
          <a:p>
            <a:r>
              <a:rPr lang="en-US" sz="1200" dirty="0"/>
              <a:t>This extension utilizes the </a:t>
            </a:r>
            <a:r>
              <a:rPr lang="en-US" sz="1200" dirty="0" err="1"/>
              <a:t>MCx</a:t>
            </a:r>
            <a:r>
              <a:rPr lang="en-US" sz="1200" dirty="0"/>
              <a:t> as a simple button and display device.   The </a:t>
            </a:r>
            <a:r>
              <a:rPr lang="en-US" sz="1200" dirty="0" err="1"/>
              <a:t>MCx</a:t>
            </a:r>
            <a:r>
              <a:rPr lang="en-US" sz="1200" dirty="0"/>
              <a:t> will display what the extension tells it to display, and the </a:t>
            </a:r>
            <a:r>
              <a:rPr lang="en-US" sz="1200" dirty="0" err="1"/>
              <a:t>MCx</a:t>
            </a:r>
            <a:r>
              <a:rPr lang="en-US" sz="1200" dirty="0"/>
              <a:t> will send the same messages whenever a </a:t>
            </a:r>
            <a:r>
              <a:rPr lang="en-US" sz="1200" dirty="0" err="1"/>
              <a:t>apecific</a:t>
            </a:r>
            <a:r>
              <a:rPr lang="en-US" sz="1200" dirty="0"/>
              <a:t> button is pressed.  All of the logic for controlling the displays and reacting to foot presses resides in the extension, not in the </a:t>
            </a:r>
            <a:r>
              <a:rPr lang="en-US" sz="1200" dirty="0" err="1"/>
              <a:t>MCx</a:t>
            </a:r>
            <a:r>
              <a:rPr lang="en-US" sz="1200" dirty="0"/>
              <a:t>.  The bank on the </a:t>
            </a:r>
            <a:r>
              <a:rPr lang="en-US" sz="1200" dirty="0" err="1"/>
              <a:t>MCx</a:t>
            </a:r>
            <a:r>
              <a:rPr lang="en-US" sz="1200" dirty="0"/>
              <a:t> that is used to control </a:t>
            </a:r>
            <a:r>
              <a:rPr lang="en-US" sz="1200" dirty="0" err="1"/>
              <a:t>GigPerformer</a:t>
            </a:r>
            <a:r>
              <a:rPr lang="en-US" sz="1200" dirty="0"/>
              <a:t> will never change, no matter how many racks, songs, variations, or widgets you choose to control with it.</a:t>
            </a:r>
          </a:p>
          <a:p>
            <a:endParaRPr lang="en-US" sz="1200" dirty="0"/>
          </a:p>
          <a:p>
            <a:r>
              <a:rPr lang="en-US" sz="1200" dirty="0"/>
              <a:t>This means you can dedicate one “bank” on the </a:t>
            </a:r>
            <a:r>
              <a:rPr lang="en-US" sz="1200" dirty="0" err="1"/>
              <a:t>MCx</a:t>
            </a:r>
            <a:r>
              <a:rPr lang="en-US" sz="1200" dirty="0"/>
              <a:t> to </a:t>
            </a:r>
            <a:r>
              <a:rPr lang="en-US" sz="1200" dirty="0" err="1"/>
              <a:t>GigPerformer</a:t>
            </a:r>
            <a:r>
              <a:rPr lang="en-US" sz="1200" dirty="0"/>
              <a:t> and continue to use all other banks as you see fit.</a:t>
            </a:r>
          </a:p>
          <a:p>
            <a:endParaRPr lang="en-US" sz="1200" b="1" dirty="0"/>
          </a:p>
          <a:p>
            <a:endParaRPr lang="en-US" sz="1200" b="1" dirty="0"/>
          </a:p>
          <a:p>
            <a:r>
              <a:rPr lang="en-US" sz="1400" b="1" dirty="0"/>
              <a:t>Controlling </a:t>
            </a:r>
            <a:r>
              <a:rPr lang="en-US" sz="1400" b="1" dirty="0" err="1"/>
              <a:t>GigPerformer</a:t>
            </a:r>
            <a:r>
              <a:rPr lang="en-US" sz="1400" b="1" dirty="0"/>
              <a:t> with the </a:t>
            </a:r>
            <a:r>
              <a:rPr lang="en-US" sz="1400" b="1" dirty="0" err="1"/>
              <a:t>MCx</a:t>
            </a:r>
            <a:r>
              <a:rPr lang="en-US" sz="1400" b="1" dirty="0"/>
              <a:t> Extension</a:t>
            </a:r>
          </a:p>
          <a:p>
            <a:endParaRPr lang="en-US" sz="1200" dirty="0"/>
          </a:p>
          <a:p>
            <a:r>
              <a:rPr lang="en-US" sz="1200" dirty="0"/>
              <a:t>All configuration of how </a:t>
            </a:r>
            <a:r>
              <a:rPr lang="en-US" sz="1200" dirty="0" err="1"/>
              <a:t>GigPerformer</a:t>
            </a:r>
            <a:r>
              <a:rPr lang="en-US" sz="1200" dirty="0"/>
              <a:t> interacts with the </a:t>
            </a:r>
            <a:r>
              <a:rPr lang="en-US" sz="1200" dirty="0" err="1"/>
              <a:t>MCx</a:t>
            </a:r>
            <a:r>
              <a:rPr lang="en-US" sz="1200" dirty="0"/>
              <a:t> is done through widgets in </a:t>
            </a:r>
            <a:r>
              <a:rPr lang="en-US" sz="1200" dirty="0" err="1"/>
              <a:t>GigPerformer</a:t>
            </a:r>
            <a:r>
              <a:rPr lang="en-US" sz="1200" dirty="0"/>
              <a:t>.</a:t>
            </a:r>
          </a:p>
          <a:p>
            <a:endParaRPr lang="en-US" sz="1200" dirty="0"/>
          </a:p>
          <a:p>
            <a:r>
              <a:rPr lang="en-US" sz="1200" dirty="0"/>
              <a:t>This document is divided into two major parts:</a:t>
            </a:r>
          </a:p>
          <a:p>
            <a:pPr marL="171450" indent="-171450">
              <a:buFont typeface="Arial" panose="020B0604020202020204" pitchFamily="34" charset="0"/>
              <a:buChar char="•"/>
            </a:pPr>
            <a:r>
              <a:rPr lang="en-US" sz="1200" dirty="0"/>
              <a:t>Conceptual relationship between the physical displays and buttons on the </a:t>
            </a:r>
            <a:r>
              <a:rPr lang="en-US" sz="1200" dirty="0" err="1"/>
              <a:t>MCx</a:t>
            </a:r>
            <a:r>
              <a:rPr lang="en-US" sz="1200" dirty="0"/>
              <a:t> and the logical structure of the extension</a:t>
            </a:r>
          </a:p>
          <a:p>
            <a:pPr marL="171450" indent="-171450">
              <a:buFont typeface="Arial" panose="020B0604020202020204" pitchFamily="34" charset="0"/>
              <a:buChar char="•"/>
            </a:pPr>
            <a:r>
              <a:rPr lang="en-US" sz="1200" dirty="0"/>
              <a:t>Configuring widgets to produce the results you are looking for</a:t>
            </a:r>
          </a:p>
        </p:txBody>
      </p:sp>
    </p:spTree>
    <p:extLst>
      <p:ext uri="{BB962C8B-B14F-4D97-AF65-F5344CB8AC3E}">
        <p14:creationId xmlns:p14="http://schemas.microsoft.com/office/powerpoint/2010/main" val="4722767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6032421"/>
          </a:xfrm>
          <a:prstGeom prst="rect">
            <a:avLst/>
          </a:prstGeom>
          <a:noFill/>
        </p:spPr>
        <p:txBody>
          <a:bodyPr wrap="square" rtlCol="0">
            <a:spAutoFit/>
          </a:bodyPr>
          <a:lstStyle/>
          <a:p>
            <a:r>
              <a:rPr lang="en-US" sz="1400" b="1" dirty="0"/>
              <a:t>Basic Toggle Controls</a:t>
            </a:r>
          </a:p>
          <a:p>
            <a:r>
              <a:rPr lang="en-US" sz="1200" dirty="0"/>
              <a:t>If you’re starting from a new Rackspace (i.e., not one from the demo </a:t>
            </a:r>
            <a:r>
              <a:rPr lang="en-US" sz="1200" dirty="0" err="1"/>
              <a:t>gigfile</a:t>
            </a:r>
            <a:r>
              <a:rPr lang="en-US" sz="1200" dirty="0"/>
              <a:t>) assigning button-type widgets to your footswitches is very simple.  All you have to do is edit the properties of the widget.</a:t>
            </a:r>
          </a:p>
          <a:p>
            <a:endParaRPr lang="en-US" sz="1200" dirty="0"/>
          </a:p>
          <a:p>
            <a:r>
              <a:rPr lang="en-US" sz="1200" dirty="0"/>
              <a:t>To assign widgets to the switches on the bottom row:</a:t>
            </a:r>
          </a:p>
          <a:p>
            <a:pPr marL="628650" lvl="1" indent="-171450">
              <a:buFont typeface="Arial" panose="020B0604020202020204" pitchFamily="34" charset="0"/>
              <a:buChar char="•"/>
            </a:pPr>
            <a:r>
              <a:rPr lang="en-US" sz="1200" dirty="0"/>
              <a:t>Edit the widget and select the “Advanced” tab</a:t>
            </a:r>
          </a:p>
          <a:p>
            <a:pPr marL="628650" lvl="1" indent="-171450">
              <a:buFont typeface="Arial" panose="020B0604020202020204" pitchFamily="34" charset="0"/>
              <a:buChar char="•"/>
            </a:pPr>
            <a:r>
              <a:rPr lang="en-US" sz="1200" dirty="0"/>
              <a:t>In the “OSC/</a:t>
            </a:r>
            <a:r>
              <a:rPr lang="en-US" sz="1200" dirty="0" err="1"/>
              <a:t>GPScript</a:t>
            </a:r>
            <a:r>
              <a:rPr lang="en-US" sz="1200" dirty="0"/>
              <a:t> Name” field type “mcx_b_fx_0”</a:t>
            </a:r>
          </a:p>
          <a:p>
            <a:pPr marL="628650" lvl="1" indent="-171450">
              <a:buFont typeface="Arial" panose="020B0604020202020204" pitchFamily="34" charset="0"/>
              <a:buChar char="•"/>
            </a:pPr>
            <a:r>
              <a:rPr lang="en-US" sz="1200" dirty="0"/>
              <a:t>This will assign the widget to the bottom left switch</a:t>
            </a:r>
          </a:p>
          <a:p>
            <a:pPr marL="628650" lvl="1" indent="-171450">
              <a:buFont typeface="Arial" panose="020B0604020202020204" pitchFamily="34" charset="0"/>
              <a:buChar char="•"/>
            </a:pPr>
            <a:r>
              <a:rPr lang="en-US" sz="1200" dirty="0"/>
              <a:t>Change the 0 to 1, 2, or 3 for the other bottom row switches</a:t>
            </a:r>
          </a:p>
          <a:p>
            <a:endParaRPr lang="en-US" sz="1200" dirty="0"/>
          </a:p>
          <a:p>
            <a:r>
              <a:rPr lang="en-US" sz="1200" b="1" i="1" dirty="0"/>
              <a:t>To sync your Rackspace with the foot controller you must change </a:t>
            </a:r>
            <a:r>
              <a:rPr lang="en-US" sz="1200" b="1" i="1" dirty="0" err="1"/>
              <a:t>Rackspaces</a:t>
            </a:r>
            <a:r>
              <a:rPr lang="en-US" sz="1200" b="1" i="1" dirty="0"/>
              <a:t>, then come back</a:t>
            </a:r>
            <a:r>
              <a:rPr lang="en-US" sz="1200" dirty="0"/>
              <a:t>.  This is necessary because the extension scans widget names upon Rackspace entry.  It doesn’t know you renamed widgets until you change </a:t>
            </a:r>
            <a:r>
              <a:rPr lang="en-US" sz="1200" dirty="0" err="1"/>
              <a:t>Rackspaces</a:t>
            </a:r>
            <a:r>
              <a:rPr lang="en-US" sz="1200" dirty="0"/>
              <a:t>.</a:t>
            </a:r>
          </a:p>
          <a:p>
            <a:endParaRPr lang="en-US" sz="1200" dirty="0"/>
          </a:p>
          <a:p>
            <a:r>
              <a:rPr lang="en-US" sz="1200" dirty="0"/>
              <a:t>The name that will display for each widget on the controller is (by default) the widget’s caption</a:t>
            </a:r>
          </a:p>
          <a:p>
            <a:pPr marL="628650" lvl="1" indent="-171450">
              <a:buFont typeface="Arial" panose="020B0604020202020204" pitchFamily="34" charset="0"/>
              <a:buChar char="•"/>
            </a:pPr>
            <a:r>
              <a:rPr lang="en-US" sz="1200" dirty="0"/>
              <a:t>If you let the underlying plugin change the caption it may not sync properly with the controller display.  This is because </a:t>
            </a:r>
            <a:r>
              <a:rPr lang="en-US" sz="1200" dirty="0" err="1"/>
              <a:t>GigPerformer</a:t>
            </a:r>
            <a:r>
              <a:rPr lang="en-US" sz="1200" dirty="0"/>
              <a:t> runs audio and scripting in different threads, so we can’t know which will execute first</a:t>
            </a:r>
          </a:p>
          <a:p>
            <a:pPr marL="628650" lvl="1" indent="-171450">
              <a:buFont typeface="Arial" panose="020B0604020202020204" pitchFamily="34" charset="0"/>
              <a:buChar char="•"/>
            </a:pPr>
            <a:endParaRPr lang="en-US" sz="1200" dirty="0"/>
          </a:p>
          <a:p>
            <a:r>
              <a:rPr lang="en-US" sz="1200" dirty="0"/>
              <a:t>For full control of what appears on the controller display when the widget is on and off you can use separate text widgets</a:t>
            </a:r>
          </a:p>
          <a:p>
            <a:pPr marL="628650" lvl="1" indent="-171450">
              <a:buFont typeface="Arial" panose="020B0604020202020204" pitchFamily="34" charset="0"/>
              <a:buChar char="•"/>
            </a:pPr>
            <a:r>
              <a:rPr lang="en-US" sz="1200" dirty="0"/>
              <a:t>The OSC/</a:t>
            </a:r>
            <a:r>
              <a:rPr lang="en-US" sz="1200" dirty="0" err="1"/>
              <a:t>GPScript</a:t>
            </a:r>
            <a:r>
              <a:rPr lang="en-US" sz="1200" dirty="0"/>
              <a:t> names for the text widgets parallel the button widgets but with a “p” added to the name</a:t>
            </a:r>
          </a:p>
          <a:p>
            <a:pPr marL="628650" lvl="1" indent="-171450">
              <a:buFont typeface="Arial" panose="020B0604020202020204" pitchFamily="34" charset="0"/>
              <a:buChar char="•"/>
            </a:pPr>
            <a:r>
              <a:rPr lang="en-US" sz="1200" dirty="0"/>
              <a:t>e.g., “mcx_bp_fx_0” will control the label for the bottom left switch</a:t>
            </a:r>
          </a:p>
          <a:p>
            <a:pPr marL="628650" lvl="1" indent="-171450">
              <a:buFont typeface="Arial" panose="020B0604020202020204" pitchFamily="34" charset="0"/>
              <a:buChar char="•"/>
            </a:pPr>
            <a:r>
              <a:rPr lang="en-US" sz="1200" dirty="0"/>
              <a:t>Use a Customized Caption in the format “</a:t>
            </a:r>
            <a:r>
              <a:rPr lang="en-US" sz="1200" dirty="0" err="1"/>
              <a:t>OffName_OnName_LongName</a:t>
            </a:r>
            <a:r>
              <a:rPr lang="en-US" sz="1200" dirty="0"/>
              <a:t>”</a:t>
            </a:r>
          </a:p>
          <a:p>
            <a:pPr marL="628650" lvl="1" indent="-171450">
              <a:buFont typeface="Arial" panose="020B0604020202020204" pitchFamily="34" charset="0"/>
              <a:buChar char="•"/>
            </a:pPr>
            <a:r>
              <a:rPr lang="en-US" sz="1200" dirty="0"/>
              <a:t>I generally hide these widgets by selecting the “Hide” option on the General tab of the text widget</a:t>
            </a:r>
          </a:p>
          <a:p>
            <a:endParaRPr lang="en-US" sz="1200" dirty="0"/>
          </a:p>
          <a:p>
            <a:endParaRPr lang="en-US" sz="1200" dirty="0"/>
          </a:p>
          <a:p>
            <a:endParaRPr lang="en-US" sz="1200" dirty="0"/>
          </a:p>
          <a:p>
            <a:endParaRPr lang="en-US" sz="1200" dirty="0"/>
          </a:p>
          <a:p>
            <a:endParaRPr lang="en-US" sz="1200" dirty="0"/>
          </a:p>
          <a:p>
            <a:r>
              <a:rPr lang="en-US" sz="1200" dirty="0"/>
              <a:t>Assigning widgets to the top row is the same, except the first part of the name must be “</a:t>
            </a:r>
            <a:r>
              <a:rPr lang="en-US" sz="1200" dirty="0" err="1"/>
              <a:t>mcx_t</a:t>
            </a:r>
            <a:r>
              <a:rPr lang="en-US" sz="1200" dirty="0"/>
              <a:t>”.  (i.e., t=top, b=bottom)</a:t>
            </a:r>
          </a:p>
          <a:p>
            <a:pPr marL="628650" lvl="1" indent="-171450">
              <a:buFont typeface="Arial" panose="020B0604020202020204" pitchFamily="34" charset="0"/>
              <a:buChar char="•"/>
            </a:pPr>
            <a:r>
              <a:rPr lang="en-US" sz="1200" dirty="0"/>
              <a:t>If you didn’t change the “</a:t>
            </a:r>
            <a:r>
              <a:rPr lang="en-US" sz="1200" dirty="0" err="1"/>
              <a:t>mcx_initial_row_config</a:t>
            </a:r>
            <a:r>
              <a:rPr lang="en-US" sz="1200" dirty="0"/>
              <a:t>” widget then the top row will select variations by default</a:t>
            </a:r>
          </a:p>
          <a:p>
            <a:pPr marL="628650" lvl="1" indent="-171450">
              <a:buFont typeface="Arial" panose="020B0604020202020204" pitchFamily="34" charset="0"/>
              <a:buChar char="•"/>
            </a:pPr>
            <a:r>
              <a:rPr lang="en-US" sz="1200" dirty="0"/>
              <a:t>To change what is being displayed on the top row, long-press the second button on the top row to rotate between </a:t>
            </a:r>
            <a:r>
              <a:rPr lang="en-US" sz="1200" dirty="0" err="1"/>
              <a:t>Rackspaces</a:t>
            </a:r>
            <a:r>
              <a:rPr lang="en-US" sz="1200" dirty="0"/>
              <a:t>, Variations, and widgets</a:t>
            </a:r>
          </a:p>
          <a:p>
            <a:endParaRPr lang="en-US" sz="1200" dirty="0"/>
          </a:p>
        </p:txBody>
      </p:sp>
      <p:pic>
        <p:nvPicPr>
          <p:cNvPr id="6" name="Picture 5">
            <a:extLst>
              <a:ext uri="{FF2B5EF4-FFF2-40B4-BE49-F238E27FC236}">
                <a16:creationId xmlns:a16="http://schemas.microsoft.com/office/drawing/2014/main" id="{61E1F877-344E-D008-E7DE-92A15EF98AAF}"/>
              </a:ext>
            </a:extLst>
          </p:cNvPr>
          <p:cNvPicPr>
            <a:picLocks noChangeAspect="1"/>
          </p:cNvPicPr>
          <p:nvPr/>
        </p:nvPicPr>
        <p:blipFill>
          <a:blip r:embed="rId2"/>
          <a:stretch>
            <a:fillRect/>
          </a:stretch>
        </p:blipFill>
        <p:spPr>
          <a:xfrm>
            <a:off x="4985511" y="1194706"/>
            <a:ext cx="2508443" cy="931048"/>
          </a:xfrm>
          <a:prstGeom prst="rect">
            <a:avLst/>
          </a:prstGeom>
        </p:spPr>
      </p:pic>
      <p:pic>
        <p:nvPicPr>
          <p:cNvPr id="8" name="Picture 7">
            <a:extLst>
              <a:ext uri="{FF2B5EF4-FFF2-40B4-BE49-F238E27FC236}">
                <a16:creationId xmlns:a16="http://schemas.microsoft.com/office/drawing/2014/main" id="{5B6F7644-77AC-834B-B474-2320EF69D988}"/>
              </a:ext>
            </a:extLst>
          </p:cNvPr>
          <p:cNvPicPr>
            <a:picLocks noChangeAspect="1"/>
          </p:cNvPicPr>
          <p:nvPr/>
        </p:nvPicPr>
        <p:blipFill>
          <a:blip r:embed="rId3"/>
          <a:stretch>
            <a:fillRect/>
          </a:stretch>
        </p:blipFill>
        <p:spPr>
          <a:xfrm>
            <a:off x="1155033" y="4543595"/>
            <a:ext cx="2469931" cy="690744"/>
          </a:xfrm>
          <a:prstGeom prst="rect">
            <a:avLst/>
          </a:prstGeom>
        </p:spPr>
      </p:pic>
      <p:pic>
        <p:nvPicPr>
          <p:cNvPr id="10" name="Picture 9">
            <a:extLst>
              <a:ext uri="{FF2B5EF4-FFF2-40B4-BE49-F238E27FC236}">
                <a16:creationId xmlns:a16="http://schemas.microsoft.com/office/drawing/2014/main" id="{EFEDBE70-3B1D-4AA8-5327-B8C80F389FEB}"/>
              </a:ext>
            </a:extLst>
          </p:cNvPr>
          <p:cNvPicPr>
            <a:picLocks noChangeAspect="1"/>
          </p:cNvPicPr>
          <p:nvPr/>
        </p:nvPicPr>
        <p:blipFill>
          <a:blip r:embed="rId4"/>
          <a:stretch>
            <a:fillRect/>
          </a:stretch>
        </p:blipFill>
        <p:spPr>
          <a:xfrm>
            <a:off x="3941913" y="4543596"/>
            <a:ext cx="3352661" cy="698706"/>
          </a:xfrm>
          <a:prstGeom prst="rect">
            <a:avLst/>
          </a:prstGeom>
        </p:spPr>
      </p:pic>
    </p:spTree>
    <p:extLst>
      <p:ext uri="{BB962C8B-B14F-4D97-AF65-F5344CB8AC3E}">
        <p14:creationId xmlns:p14="http://schemas.microsoft.com/office/powerpoint/2010/main" val="15854278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6247864"/>
          </a:xfrm>
          <a:prstGeom prst="rect">
            <a:avLst/>
          </a:prstGeom>
          <a:noFill/>
        </p:spPr>
        <p:txBody>
          <a:bodyPr wrap="square" rtlCol="0">
            <a:spAutoFit/>
          </a:bodyPr>
          <a:lstStyle/>
          <a:p>
            <a:r>
              <a:rPr lang="en-US" sz="1400" b="1" dirty="0"/>
              <a:t>Overview of the </a:t>
            </a:r>
            <a:r>
              <a:rPr lang="en-US" sz="1400" b="1" dirty="0" err="1"/>
              <a:t>MCx</a:t>
            </a:r>
            <a:r>
              <a:rPr lang="en-US" sz="1400" b="1" dirty="0"/>
              <a:t> Extension</a:t>
            </a:r>
          </a:p>
          <a:p>
            <a:endParaRPr lang="en-US" sz="1200" dirty="0"/>
          </a:p>
          <a:p>
            <a:r>
              <a:rPr lang="en-US" sz="1200" dirty="0"/>
              <a:t>The Morningstar MC8 can be viewed as a control surface having two rows of four foot switches, and display sections corresponding to those switches.  We will refer to these as the Top row and the Bottom row.  On the MC6 there are three buttons per row, not four, but otherwise everything works the same way.</a:t>
            </a:r>
          </a:p>
          <a:p>
            <a:endParaRPr lang="en-US" sz="1200" dirty="0"/>
          </a:p>
          <a:p>
            <a:r>
              <a:rPr lang="en-US" sz="1200" dirty="0"/>
              <a:t>Each control row can be cycled between showing widgets, Rackspace selection, Variation selection, Song selection, or </a:t>
            </a:r>
            <a:r>
              <a:rPr lang="en-US" sz="1200" dirty="0" err="1"/>
              <a:t>Songpart</a:t>
            </a:r>
            <a:r>
              <a:rPr lang="en-US" sz="1200" dirty="0"/>
              <a:t> selection.  The example at the start of this document showed Rackspace selection on the top row and Widget toggles on the bottom row.</a:t>
            </a:r>
          </a:p>
          <a:p>
            <a:endParaRPr lang="en-US" sz="1200" dirty="0"/>
          </a:p>
          <a:p>
            <a:r>
              <a:rPr lang="en-US" sz="1200" dirty="0"/>
              <a:t>A regular press of a button will activate what is currently assigned to that button.  In the case of widgets, it will toggle them.</a:t>
            </a:r>
          </a:p>
          <a:p>
            <a:endParaRPr lang="en-US" sz="1200" dirty="0"/>
          </a:p>
          <a:p>
            <a:r>
              <a:rPr lang="en-US" sz="1200" dirty="0"/>
              <a:t>Long presses of different buttons can be used to page backward and forward through whatever is shown on a row (e.g., through </a:t>
            </a:r>
            <a:r>
              <a:rPr lang="en-US" sz="1200" dirty="0" err="1"/>
              <a:t>rackspaces</a:t>
            </a:r>
            <a:r>
              <a:rPr lang="en-US" sz="1200" dirty="0"/>
              <a:t> or songs), or cycle through the options for what is shown on the row (e.g., switching from widgets to racks to variations).</a:t>
            </a:r>
          </a:p>
          <a:p>
            <a:endParaRPr lang="en-US" sz="1200" dirty="0"/>
          </a:p>
          <a:p>
            <a:r>
              <a:rPr lang="en-US" sz="1200" dirty="0"/>
              <a:t>The MC8 is structured with two “Pages” in each bank.  If you choose to make use of this the controller effectively has four rows of buttons: a top and bottom row in each page.  Long presses of specific buttons can switch between pages, and you can have different items assigned to widgets on different pages.  For example, you could have page one set to display widgets on both the top and bottom rows, and page two display Songs on the top row and </a:t>
            </a:r>
            <a:r>
              <a:rPr lang="en-US" sz="1200" dirty="0" err="1"/>
              <a:t>Songparts</a:t>
            </a:r>
            <a:r>
              <a:rPr lang="en-US" sz="1200" dirty="0"/>
              <a:t> on the bottom row.</a:t>
            </a:r>
            <a:endParaRPr lang="en-US" sz="1200" b="1" dirty="0"/>
          </a:p>
          <a:p>
            <a:endParaRPr lang="en-US" sz="1200" dirty="0"/>
          </a:p>
          <a:p>
            <a:endParaRPr lang="en-US" sz="1200" dirty="0"/>
          </a:p>
          <a:p>
            <a:r>
              <a:rPr lang="en-US" sz="1400" b="1" dirty="0"/>
              <a:t>Pedals and Extra Switches</a:t>
            </a:r>
          </a:p>
          <a:p>
            <a:endParaRPr lang="en-US" sz="1200" dirty="0"/>
          </a:p>
          <a:p>
            <a:r>
              <a:rPr lang="en-US" sz="1200" dirty="0"/>
              <a:t>The four </a:t>
            </a:r>
            <a:r>
              <a:rPr lang="en-US" sz="1200" dirty="0" err="1"/>
              <a:t>Omniports</a:t>
            </a:r>
            <a:r>
              <a:rPr lang="en-US" sz="1200" dirty="0"/>
              <a:t> on the </a:t>
            </a:r>
            <a:r>
              <a:rPr lang="en-US" sz="1200" dirty="0" err="1"/>
              <a:t>MCx</a:t>
            </a:r>
            <a:r>
              <a:rPr lang="en-US" sz="1200" dirty="0"/>
              <a:t> can be used for expression pedals or additional foot switches (Aux switches).  The extension looks for extra switches on </a:t>
            </a:r>
            <a:r>
              <a:rPr lang="en-US" sz="1200" dirty="0" err="1"/>
              <a:t>Omniports</a:t>
            </a:r>
            <a:r>
              <a:rPr lang="en-US" sz="1200" dirty="0"/>
              <a:t> 3 and 4 with the MC6 Pro, and </a:t>
            </a:r>
            <a:r>
              <a:rPr lang="en-US" sz="1200" dirty="0" err="1"/>
              <a:t>Omniports</a:t>
            </a:r>
            <a:r>
              <a:rPr lang="en-US" sz="1200" dirty="0"/>
              <a:t> 1 and 2 on the MC8.  The other two </a:t>
            </a:r>
            <a:r>
              <a:rPr lang="en-US" sz="1200" dirty="0" err="1"/>
              <a:t>Omniports</a:t>
            </a:r>
            <a:r>
              <a:rPr lang="en-US" sz="1200" dirty="0"/>
              <a:t> can be linked to knob/fader/pedal widgets through this extension.  </a:t>
            </a:r>
          </a:p>
          <a:p>
            <a:endParaRPr lang="en-US" sz="1200" dirty="0"/>
          </a:p>
          <a:p>
            <a:r>
              <a:rPr lang="en-US" sz="1200" dirty="0"/>
              <a:t>Using additional buttons to control paging is a convenience and reliability feature.  The same functionality is available whether you choose to use additional buttons through the </a:t>
            </a:r>
            <a:r>
              <a:rPr lang="en-US" sz="1200" dirty="0" err="1"/>
              <a:t>Omniports</a:t>
            </a:r>
            <a:r>
              <a:rPr lang="en-US" sz="1200" dirty="0"/>
              <a:t> or not.  The only difference is whether you trigger these functions through long presses of the MC8’s buttons, or regular presses on the Aux buttons.  I prefer the additional buttons.</a:t>
            </a:r>
          </a:p>
          <a:p>
            <a:endParaRPr lang="en-US" sz="1200" dirty="0"/>
          </a:p>
          <a:p>
            <a:r>
              <a:rPr lang="en-US" sz="1200" dirty="0"/>
              <a:t>The next few pages illustrate the control layouts for using the MC8 without extra buttons, and with extra buttons.</a:t>
            </a:r>
          </a:p>
        </p:txBody>
      </p:sp>
    </p:spTree>
    <p:extLst>
      <p:ext uri="{BB962C8B-B14F-4D97-AF65-F5344CB8AC3E}">
        <p14:creationId xmlns:p14="http://schemas.microsoft.com/office/powerpoint/2010/main" val="34307631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2571750" y="3288454"/>
            <a:ext cx="4000500" cy="1981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3343275" y="3993304"/>
            <a:ext cx="2590800" cy="523875"/>
          </a:xfrm>
          <a:prstGeom prst="rect">
            <a:avLst/>
          </a:prstGeom>
          <a:solidFill>
            <a:schemeClr val="bg2">
              <a:lumMod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2809875" y="4850554"/>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6115050" y="4850553"/>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3900488" y="4850552"/>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5098256" y="4850552"/>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2809875" y="3483718"/>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6115050" y="3483717"/>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p:nvSpPr>
        <p:spPr>
          <a:xfrm>
            <a:off x="3900488" y="3483716"/>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a:off x="5098256" y="3483716"/>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p:cNvCxnSpPr/>
          <p:nvPr/>
        </p:nvCxnSpPr>
        <p:spPr>
          <a:xfrm flipV="1">
            <a:off x="4038600" y="5298229"/>
            <a:ext cx="4763" cy="30479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18" name="TextBox 17"/>
          <p:cNvSpPr txBox="1"/>
          <p:nvPr/>
        </p:nvSpPr>
        <p:spPr>
          <a:xfrm>
            <a:off x="2282876" y="5631602"/>
            <a:ext cx="2571750" cy="954107"/>
          </a:xfrm>
          <a:prstGeom prst="rect">
            <a:avLst/>
          </a:prstGeom>
          <a:noFill/>
        </p:spPr>
        <p:txBody>
          <a:bodyPr wrap="square" rtlCol="0">
            <a:spAutoFit/>
          </a:bodyPr>
          <a:lstStyle/>
          <a:p>
            <a:pPr algn="ctr"/>
            <a:r>
              <a:rPr lang="en-US" sz="1400" b="1" dirty="0"/>
              <a:t>		Select</a:t>
            </a:r>
            <a:r>
              <a:rPr lang="en-US" sz="1400" dirty="0"/>
              <a:t>:</a:t>
            </a:r>
          </a:p>
          <a:p>
            <a:r>
              <a:rPr lang="en-US" sz="1400" dirty="0"/>
              <a:t>Rotates what is active on row between Widgets, Racks/Songs,</a:t>
            </a:r>
          </a:p>
          <a:p>
            <a:r>
              <a:rPr lang="en-US" sz="1400" dirty="0"/>
              <a:t>Or Variations/</a:t>
            </a:r>
            <a:r>
              <a:rPr lang="en-US" sz="1400" dirty="0" err="1"/>
              <a:t>Songparts</a:t>
            </a:r>
            <a:endParaRPr lang="en-US" sz="1400" dirty="0"/>
          </a:p>
        </p:txBody>
      </p:sp>
      <p:cxnSp>
        <p:nvCxnSpPr>
          <p:cNvPr id="19" name="Straight Arrow Connector 18"/>
          <p:cNvCxnSpPr/>
          <p:nvPr/>
        </p:nvCxnSpPr>
        <p:spPr>
          <a:xfrm>
            <a:off x="2282876" y="4988664"/>
            <a:ext cx="206275" cy="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20" name="TextBox 19"/>
          <p:cNvSpPr txBox="1"/>
          <p:nvPr/>
        </p:nvSpPr>
        <p:spPr>
          <a:xfrm>
            <a:off x="262236" y="4296166"/>
            <a:ext cx="2128540" cy="1384995"/>
          </a:xfrm>
          <a:prstGeom prst="rect">
            <a:avLst/>
          </a:prstGeom>
          <a:noFill/>
        </p:spPr>
        <p:txBody>
          <a:bodyPr wrap="square" rtlCol="0">
            <a:spAutoFit/>
          </a:bodyPr>
          <a:lstStyle/>
          <a:p>
            <a:r>
              <a:rPr lang="en-US" sz="1400" b="1" dirty="0"/>
              <a:t>Bank Down</a:t>
            </a:r>
            <a:r>
              <a:rPr lang="en-US" sz="1400" dirty="0"/>
              <a:t>:</a:t>
            </a:r>
          </a:p>
          <a:p>
            <a:r>
              <a:rPr lang="en-US" sz="1400" dirty="0"/>
              <a:t>Shifts to previous group of what is displayed on this row.  e.g., prior four Widgets, Racks/Songs, or Variations/</a:t>
            </a:r>
            <a:r>
              <a:rPr lang="en-US" sz="1400" dirty="0" err="1"/>
              <a:t>Songparts</a:t>
            </a:r>
            <a:endParaRPr lang="en-US" sz="1400" dirty="0"/>
          </a:p>
        </p:txBody>
      </p:sp>
      <p:cxnSp>
        <p:nvCxnSpPr>
          <p:cNvPr id="25" name="Straight Arrow Connector 24"/>
          <p:cNvCxnSpPr/>
          <p:nvPr/>
        </p:nvCxnSpPr>
        <p:spPr>
          <a:xfrm flipH="1">
            <a:off x="6619653" y="4988664"/>
            <a:ext cx="281658"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26" name="TextBox 25"/>
          <p:cNvSpPr txBox="1"/>
          <p:nvPr/>
        </p:nvSpPr>
        <p:spPr>
          <a:xfrm>
            <a:off x="6901311" y="4296166"/>
            <a:ext cx="2090289" cy="1384995"/>
          </a:xfrm>
          <a:prstGeom prst="rect">
            <a:avLst/>
          </a:prstGeom>
          <a:noFill/>
        </p:spPr>
        <p:txBody>
          <a:bodyPr wrap="square" rtlCol="0">
            <a:spAutoFit/>
          </a:bodyPr>
          <a:lstStyle/>
          <a:p>
            <a:r>
              <a:rPr lang="en-US" sz="1400" b="1" dirty="0"/>
              <a:t>Bank Up</a:t>
            </a:r>
            <a:r>
              <a:rPr lang="en-US" sz="1400" dirty="0"/>
              <a:t>:</a:t>
            </a:r>
          </a:p>
          <a:p>
            <a:r>
              <a:rPr lang="en-US" sz="1400" dirty="0"/>
              <a:t>Shifts to next group of what is displayed on this row.  e.g., next four Widgets, Racks/Songs, or Variations/</a:t>
            </a:r>
            <a:r>
              <a:rPr lang="en-US" sz="1400" dirty="0" err="1"/>
              <a:t>Songparts</a:t>
            </a:r>
            <a:endParaRPr lang="en-US" sz="1400" dirty="0"/>
          </a:p>
        </p:txBody>
      </p:sp>
      <p:sp>
        <p:nvSpPr>
          <p:cNvPr id="30" name="TextBox 29"/>
          <p:cNvSpPr txBox="1"/>
          <p:nvPr/>
        </p:nvSpPr>
        <p:spPr>
          <a:xfrm>
            <a:off x="4930826" y="5636362"/>
            <a:ext cx="2041474" cy="738664"/>
          </a:xfrm>
          <a:prstGeom prst="rect">
            <a:avLst/>
          </a:prstGeom>
          <a:noFill/>
        </p:spPr>
        <p:txBody>
          <a:bodyPr wrap="square" rtlCol="0">
            <a:spAutoFit/>
          </a:bodyPr>
          <a:lstStyle/>
          <a:p>
            <a:r>
              <a:rPr lang="en-US" sz="1400" b="1" dirty="0"/>
              <a:t>Page:</a:t>
            </a:r>
            <a:endParaRPr lang="en-US" sz="1400" dirty="0"/>
          </a:p>
          <a:p>
            <a:r>
              <a:rPr lang="en-US" sz="1400" dirty="0"/>
              <a:t>Moves to Page 2 of the bank, or back to Page 1</a:t>
            </a:r>
          </a:p>
        </p:txBody>
      </p:sp>
      <p:cxnSp>
        <p:nvCxnSpPr>
          <p:cNvPr id="31" name="Straight Arrow Connector 30"/>
          <p:cNvCxnSpPr/>
          <p:nvPr/>
        </p:nvCxnSpPr>
        <p:spPr>
          <a:xfrm flipV="1">
            <a:off x="5253038" y="5298229"/>
            <a:ext cx="4763" cy="30479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2" name="TextBox 31"/>
          <p:cNvSpPr txBox="1"/>
          <p:nvPr/>
        </p:nvSpPr>
        <p:spPr>
          <a:xfrm>
            <a:off x="362992" y="369537"/>
            <a:ext cx="8095208" cy="2492990"/>
          </a:xfrm>
          <a:prstGeom prst="rect">
            <a:avLst/>
          </a:prstGeom>
          <a:noFill/>
        </p:spPr>
        <p:txBody>
          <a:bodyPr wrap="square" rtlCol="0">
            <a:spAutoFit/>
          </a:bodyPr>
          <a:lstStyle/>
          <a:p>
            <a:r>
              <a:rPr lang="en-US" sz="1200" dirty="0"/>
              <a:t>A single switch press will toggle or select whatever is assigned to (and displayed near) that switch.  This can be anything assigned to a </a:t>
            </a:r>
            <a:r>
              <a:rPr lang="en-US" sz="1200" dirty="0" err="1"/>
              <a:t>GigPerformer</a:t>
            </a:r>
            <a:r>
              <a:rPr lang="en-US" sz="1200" dirty="0"/>
              <a:t> widget (e.g., FX toggles), or to select between </a:t>
            </a:r>
            <a:r>
              <a:rPr lang="en-US" sz="1200" dirty="0" err="1"/>
              <a:t>Rackspaces</a:t>
            </a:r>
            <a:r>
              <a:rPr lang="en-US" sz="1200" dirty="0"/>
              <a:t>/Songs or Variations/</a:t>
            </a:r>
            <a:r>
              <a:rPr lang="en-US" sz="1200" dirty="0" err="1"/>
              <a:t>Songparts</a:t>
            </a:r>
            <a:r>
              <a:rPr lang="en-US" sz="1200" dirty="0"/>
              <a:t> depending on whether </a:t>
            </a:r>
            <a:r>
              <a:rPr lang="en-US" sz="1200" dirty="0" err="1"/>
              <a:t>GigPerformer</a:t>
            </a:r>
            <a:r>
              <a:rPr lang="en-US" sz="1200" dirty="0"/>
              <a:t> is in Setlist Mode.  (e.g., if you are showing </a:t>
            </a:r>
            <a:r>
              <a:rPr lang="en-US" sz="1200" dirty="0" err="1"/>
              <a:t>Rackspaces</a:t>
            </a:r>
            <a:r>
              <a:rPr lang="en-US" sz="1200" dirty="0"/>
              <a:t> and go into setlist mode the row will change to Songs.)</a:t>
            </a:r>
          </a:p>
          <a:p>
            <a:endParaRPr lang="en-US" sz="1200" dirty="0"/>
          </a:p>
          <a:p>
            <a:r>
              <a:rPr lang="en-US" sz="1200" dirty="0"/>
              <a:t>Any number of Widgets may be designated to be linked to a row of switches.  This is done in banks of up to four widgets.  If, for example, you have 16 Widgets you want to be able to toggle in one Rackspace you could assign those in four banks of four.  You can choose to have all four of those banks assigned to the same row (requiring you to bank switch among them to access them all) or with one bank on each row (e.g., top row and bottom row of page one, top and bottom row of page two).  How they get arranged on the MC8 will depend on how you name the widgets in </a:t>
            </a:r>
            <a:r>
              <a:rPr lang="en-US" sz="1200" dirty="0" err="1"/>
              <a:t>GigPerformer</a:t>
            </a:r>
            <a:r>
              <a:rPr lang="en-US" sz="1200" dirty="0"/>
              <a:t>.</a:t>
            </a:r>
          </a:p>
          <a:p>
            <a:endParaRPr lang="en-US" sz="1200" dirty="0"/>
          </a:p>
          <a:p>
            <a:r>
              <a:rPr lang="en-US" sz="1200" dirty="0"/>
              <a:t>The following diagram shows how Long Press actions change what is shown on the bottom row.  The Long Press functions are the same for the top row, except the Page select.  Page select is a toggle that is always on the third button of the bottom row.</a:t>
            </a:r>
          </a:p>
        </p:txBody>
      </p:sp>
      <p:sp>
        <p:nvSpPr>
          <p:cNvPr id="33" name="TextBox 32"/>
          <p:cNvSpPr txBox="1"/>
          <p:nvPr/>
        </p:nvSpPr>
        <p:spPr>
          <a:xfrm>
            <a:off x="277121" y="3617614"/>
            <a:ext cx="2041474" cy="523220"/>
          </a:xfrm>
          <a:prstGeom prst="rect">
            <a:avLst/>
          </a:prstGeom>
          <a:noFill/>
        </p:spPr>
        <p:txBody>
          <a:bodyPr wrap="square" rtlCol="0">
            <a:spAutoFit/>
          </a:bodyPr>
          <a:lstStyle/>
          <a:p>
            <a:r>
              <a:rPr lang="en-US" sz="1400" b="1" i="1" dirty="0"/>
              <a:t>Long Press actions for controlling the extension</a:t>
            </a:r>
            <a:endParaRPr lang="en-US" sz="1400" i="1" dirty="0"/>
          </a:p>
        </p:txBody>
      </p:sp>
      <p:sp>
        <p:nvSpPr>
          <p:cNvPr id="2" name="TextBox 1">
            <a:extLst>
              <a:ext uri="{FF2B5EF4-FFF2-40B4-BE49-F238E27FC236}">
                <a16:creationId xmlns:a16="http://schemas.microsoft.com/office/drawing/2014/main" id="{1DC7C3B9-0C03-6188-3CAC-94CCA3C74DB7}"/>
              </a:ext>
            </a:extLst>
          </p:cNvPr>
          <p:cNvSpPr txBox="1"/>
          <p:nvPr/>
        </p:nvSpPr>
        <p:spPr>
          <a:xfrm>
            <a:off x="6966968" y="5890837"/>
            <a:ext cx="2041474" cy="738664"/>
          </a:xfrm>
          <a:prstGeom prst="rect">
            <a:avLst/>
          </a:prstGeom>
          <a:noFill/>
        </p:spPr>
        <p:txBody>
          <a:bodyPr wrap="square" rtlCol="0">
            <a:spAutoFit/>
          </a:bodyPr>
          <a:lstStyle/>
          <a:p>
            <a:r>
              <a:rPr lang="en-US" sz="1400" b="1" i="1" dirty="0"/>
              <a:t>Note:  on the MC6 Pro the “Page” buttons effectively don’t exist</a:t>
            </a:r>
            <a:endParaRPr lang="en-US" sz="1400" i="1" dirty="0"/>
          </a:p>
        </p:txBody>
      </p:sp>
    </p:spTree>
    <p:extLst>
      <p:ext uri="{BB962C8B-B14F-4D97-AF65-F5344CB8AC3E}">
        <p14:creationId xmlns:p14="http://schemas.microsoft.com/office/powerpoint/2010/main" val="13558278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2489151" y="1881459"/>
            <a:ext cx="4000500" cy="1981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3260676" y="2586309"/>
            <a:ext cx="2590800" cy="523875"/>
          </a:xfrm>
          <a:prstGeom prst="rect">
            <a:avLst/>
          </a:prstGeom>
          <a:solidFill>
            <a:schemeClr val="bg2">
              <a:lumMod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2727276" y="3443559"/>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6032451" y="3443558"/>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3817889" y="3443557"/>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5015657" y="3443557"/>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2727276" y="2076723"/>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6032451" y="2076722"/>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p:nvSpPr>
        <p:spPr>
          <a:xfrm>
            <a:off x="3817889" y="2076721"/>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a:off x="5015657" y="2076721"/>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p:cNvCxnSpPr/>
          <p:nvPr/>
        </p:nvCxnSpPr>
        <p:spPr>
          <a:xfrm flipV="1">
            <a:off x="3406749" y="4855645"/>
            <a:ext cx="4763" cy="30479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18" name="TextBox 17"/>
          <p:cNvSpPr txBox="1"/>
          <p:nvPr/>
        </p:nvSpPr>
        <p:spPr>
          <a:xfrm>
            <a:off x="2917849" y="5160443"/>
            <a:ext cx="977800" cy="307777"/>
          </a:xfrm>
          <a:prstGeom prst="rect">
            <a:avLst/>
          </a:prstGeom>
          <a:noFill/>
        </p:spPr>
        <p:txBody>
          <a:bodyPr wrap="square" rtlCol="0">
            <a:spAutoFit/>
          </a:bodyPr>
          <a:lstStyle/>
          <a:p>
            <a:pPr algn="ctr"/>
            <a:r>
              <a:rPr lang="en-US" sz="1400" b="1" dirty="0"/>
              <a:t>Select</a:t>
            </a:r>
          </a:p>
        </p:txBody>
      </p:sp>
      <p:sp>
        <p:nvSpPr>
          <p:cNvPr id="20" name="TextBox 19"/>
          <p:cNvSpPr txBox="1"/>
          <p:nvPr/>
        </p:nvSpPr>
        <p:spPr>
          <a:xfrm>
            <a:off x="1275048" y="5160442"/>
            <a:ext cx="1637777" cy="523220"/>
          </a:xfrm>
          <a:prstGeom prst="rect">
            <a:avLst/>
          </a:prstGeom>
          <a:noFill/>
        </p:spPr>
        <p:txBody>
          <a:bodyPr wrap="square" rtlCol="0">
            <a:spAutoFit/>
          </a:bodyPr>
          <a:lstStyle/>
          <a:p>
            <a:pPr algn="r"/>
            <a:r>
              <a:rPr lang="en-US" sz="1400" b="1" dirty="0"/>
              <a:t>Bank Down</a:t>
            </a:r>
          </a:p>
          <a:p>
            <a:pPr algn="r"/>
            <a:endParaRPr lang="en-US" sz="1400" dirty="0"/>
          </a:p>
        </p:txBody>
      </p:sp>
      <p:sp>
        <p:nvSpPr>
          <p:cNvPr id="26" name="TextBox 25"/>
          <p:cNvSpPr txBox="1"/>
          <p:nvPr/>
        </p:nvSpPr>
        <p:spPr>
          <a:xfrm>
            <a:off x="3736737" y="5160442"/>
            <a:ext cx="819339" cy="307777"/>
          </a:xfrm>
          <a:prstGeom prst="rect">
            <a:avLst/>
          </a:prstGeom>
          <a:noFill/>
        </p:spPr>
        <p:txBody>
          <a:bodyPr wrap="square" rtlCol="0">
            <a:spAutoFit/>
          </a:bodyPr>
          <a:lstStyle/>
          <a:p>
            <a:r>
              <a:rPr lang="en-US" sz="1400" b="1" dirty="0"/>
              <a:t>Bank Up</a:t>
            </a:r>
            <a:endParaRPr lang="en-US" sz="1400" dirty="0"/>
          </a:p>
        </p:txBody>
      </p:sp>
      <p:sp>
        <p:nvSpPr>
          <p:cNvPr id="32" name="TextBox 31"/>
          <p:cNvSpPr txBox="1"/>
          <p:nvPr/>
        </p:nvSpPr>
        <p:spPr>
          <a:xfrm>
            <a:off x="362992" y="369537"/>
            <a:ext cx="8095208" cy="1169551"/>
          </a:xfrm>
          <a:prstGeom prst="rect">
            <a:avLst/>
          </a:prstGeom>
          <a:noFill/>
        </p:spPr>
        <p:txBody>
          <a:bodyPr wrap="square" rtlCol="0">
            <a:spAutoFit/>
          </a:bodyPr>
          <a:lstStyle/>
          <a:p>
            <a:r>
              <a:rPr lang="en-US" sz="1400" dirty="0"/>
              <a:t>I generally use two additional sets of three buttons connected through MC8 </a:t>
            </a:r>
            <a:r>
              <a:rPr lang="en-US" sz="1400" dirty="0" err="1"/>
              <a:t>Omniports</a:t>
            </a:r>
            <a:r>
              <a:rPr lang="en-US" sz="1400" dirty="0"/>
              <a:t> 1 and 2 set up as Aux.  On the MC6 Pro you must use </a:t>
            </a:r>
            <a:r>
              <a:rPr lang="en-US" sz="1400" dirty="0" err="1"/>
              <a:t>Omniports</a:t>
            </a:r>
            <a:r>
              <a:rPr lang="en-US" sz="1400" dirty="0"/>
              <a:t> 3 and 4 set up as Aux switches.</a:t>
            </a:r>
          </a:p>
          <a:p>
            <a:endParaRPr lang="en-US" sz="1400" dirty="0"/>
          </a:p>
          <a:p>
            <a:r>
              <a:rPr lang="en-US" sz="1400" dirty="0"/>
              <a:t>The diagram below illustrates how these are assigned.  They replicate the Long Press functions without requiring a long press for those of us who feel life is too short for Long Presses.</a:t>
            </a:r>
          </a:p>
        </p:txBody>
      </p:sp>
      <p:sp>
        <p:nvSpPr>
          <p:cNvPr id="21" name="Rectangle 20"/>
          <p:cNvSpPr/>
          <p:nvPr/>
        </p:nvSpPr>
        <p:spPr>
          <a:xfrm>
            <a:off x="2489151" y="3909554"/>
            <a:ext cx="1844724" cy="9008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p:cNvSpPr/>
          <p:nvPr/>
        </p:nvSpPr>
        <p:spPr>
          <a:xfrm>
            <a:off x="2608213" y="4438555"/>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p:cNvSpPr/>
          <p:nvPr/>
        </p:nvSpPr>
        <p:spPr>
          <a:xfrm>
            <a:off x="3936951" y="4438555"/>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p:cNvSpPr/>
          <p:nvPr/>
        </p:nvSpPr>
        <p:spPr>
          <a:xfrm>
            <a:off x="3273400" y="4012679"/>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p:cNvCxnSpPr/>
          <p:nvPr/>
        </p:nvCxnSpPr>
        <p:spPr>
          <a:xfrm flipV="1">
            <a:off x="4072681" y="4876486"/>
            <a:ext cx="4763" cy="30479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3" name="Rectangle 32"/>
          <p:cNvSpPr/>
          <p:nvPr/>
        </p:nvSpPr>
        <p:spPr>
          <a:xfrm>
            <a:off x="4644927" y="3915146"/>
            <a:ext cx="1844724" cy="9008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p:cNvSpPr/>
          <p:nvPr/>
        </p:nvSpPr>
        <p:spPr>
          <a:xfrm>
            <a:off x="4763989" y="4444147"/>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p:cNvSpPr/>
          <p:nvPr/>
        </p:nvSpPr>
        <p:spPr>
          <a:xfrm>
            <a:off x="6092727" y="4444147"/>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p:cNvSpPr/>
          <p:nvPr/>
        </p:nvSpPr>
        <p:spPr>
          <a:xfrm>
            <a:off x="5429176" y="4018271"/>
            <a:ext cx="276225" cy="276225"/>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p:cNvSpPr txBox="1"/>
          <p:nvPr/>
        </p:nvSpPr>
        <p:spPr>
          <a:xfrm>
            <a:off x="6019577" y="5160442"/>
            <a:ext cx="1637777" cy="523220"/>
          </a:xfrm>
          <a:prstGeom prst="rect">
            <a:avLst/>
          </a:prstGeom>
          <a:noFill/>
        </p:spPr>
        <p:txBody>
          <a:bodyPr wrap="square" rtlCol="0">
            <a:spAutoFit/>
          </a:bodyPr>
          <a:lstStyle/>
          <a:p>
            <a:r>
              <a:rPr lang="en-US" sz="1400" b="1" dirty="0"/>
              <a:t>Bank Up</a:t>
            </a:r>
          </a:p>
          <a:p>
            <a:endParaRPr lang="en-US" sz="1400" dirty="0"/>
          </a:p>
        </p:txBody>
      </p:sp>
      <p:cxnSp>
        <p:nvCxnSpPr>
          <p:cNvPr id="39" name="Straight Arrow Connector 38"/>
          <p:cNvCxnSpPr/>
          <p:nvPr/>
        </p:nvCxnSpPr>
        <p:spPr>
          <a:xfrm flipV="1">
            <a:off x="5559324" y="4855645"/>
            <a:ext cx="4763" cy="30479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40" name="TextBox 39"/>
          <p:cNvSpPr txBox="1"/>
          <p:nvPr/>
        </p:nvSpPr>
        <p:spPr>
          <a:xfrm>
            <a:off x="5078388" y="5160443"/>
            <a:ext cx="977800" cy="307777"/>
          </a:xfrm>
          <a:prstGeom prst="rect">
            <a:avLst/>
          </a:prstGeom>
          <a:noFill/>
        </p:spPr>
        <p:txBody>
          <a:bodyPr wrap="square" rtlCol="0">
            <a:spAutoFit/>
          </a:bodyPr>
          <a:lstStyle/>
          <a:p>
            <a:pPr algn="ctr"/>
            <a:r>
              <a:rPr lang="en-US" sz="1400" b="1" dirty="0"/>
              <a:t>Select</a:t>
            </a:r>
          </a:p>
        </p:txBody>
      </p:sp>
      <p:sp>
        <p:nvSpPr>
          <p:cNvPr id="41" name="TextBox 40"/>
          <p:cNvSpPr txBox="1"/>
          <p:nvPr/>
        </p:nvSpPr>
        <p:spPr>
          <a:xfrm>
            <a:off x="4618437" y="5160442"/>
            <a:ext cx="766314" cy="523220"/>
          </a:xfrm>
          <a:prstGeom prst="rect">
            <a:avLst/>
          </a:prstGeom>
          <a:noFill/>
        </p:spPr>
        <p:txBody>
          <a:bodyPr wrap="square" rtlCol="0">
            <a:spAutoFit/>
          </a:bodyPr>
          <a:lstStyle/>
          <a:p>
            <a:r>
              <a:rPr lang="en-US" sz="1400" b="1" dirty="0"/>
              <a:t>Bank Down</a:t>
            </a:r>
            <a:endParaRPr lang="en-US" sz="1400" dirty="0"/>
          </a:p>
        </p:txBody>
      </p:sp>
      <p:cxnSp>
        <p:nvCxnSpPr>
          <p:cNvPr id="42" name="Straight Arrow Connector 41"/>
          <p:cNvCxnSpPr/>
          <p:nvPr/>
        </p:nvCxnSpPr>
        <p:spPr>
          <a:xfrm flipV="1">
            <a:off x="4901356" y="4876486"/>
            <a:ext cx="4763" cy="30479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43" name="TextBox 42"/>
          <p:cNvSpPr txBox="1"/>
          <p:nvPr/>
        </p:nvSpPr>
        <p:spPr>
          <a:xfrm>
            <a:off x="699008" y="4192184"/>
            <a:ext cx="1829210" cy="307777"/>
          </a:xfrm>
          <a:prstGeom prst="rect">
            <a:avLst/>
          </a:prstGeom>
          <a:noFill/>
        </p:spPr>
        <p:txBody>
          <a:bodyPr wrap="square" rtlCol="0">
            <a:spAutoFit/>
          </a:bodyPr>
          <a:lstStyle/>
          <a:p>
            <a:pPr algn="r"/>
            <a:r>
              <a:rPr lang="en-US" sz="1400" b="1" dirty="0"/>
              <a:t>Top Row Control</a:t>
            </a:r>
            <a:endParaRPr lang="en-US" sz="1400" dirty="0"/>
          </a:p>
        </p:txBody>
      </p:sp>
      <p:sp>
        <p:nvSpPr>
          <p:cNvPr id="44" name="TextBox 43"/>
          <p:cNvSpPr txBox="1"/>
          <p:nvPr/>
        </p:nvSpPr>
        <p:spPr>
          <a:xfrm>
            <a:off x="6489650" y="4176436"/>
            <a:ext cx="1728618" cy="307777"/>
          </a:xfrm>
          <a:prstGeom prst="rect">
            <a:avLst/>
          </a:prstGeom>
          <a:noFill/>
        </p:spPr>
        <p:txBody>
          <a:bodyPr wrap="square" rtlCol="0">
            <a:spAutoFit/>
          </a:bodyPr>
          <a:lstStyle/>
          <a:p>
            <a:r>
              <a:rPr lang="en-US" sz="1400" b="1" dirty="0"/>
              <a:t>Bottom Row Control</a:t>
            </a:r>
            <a:endParaRPr lang="en-US" sz="1400" dirty="0"/>
          </a:p>
        </p:txBody>
      </p:sp>
      <p:cxnSp>
        <p:nvCxnSpPr>
          <p:cNvPr id="45" name="Straight Arrow Connector 44"/>
          <p:cNvCxnSpPr/>
          <p:nvPr/>
        </p:nvCxnSpPr>
        <p:spPr>
          <a:xfrm flipV="1">
            <a:off x="2740817" y="4855645"/>
            <a:ext cx="4763" cy="30479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6" name="Straight Arrow Connector 45"/>
          <p:cNvCxnSpPr/>
          <p:nvPr/>
        </p:nvCxnSpPr>
        <p:spPr>
          <a:xfrm flipV="1">
            <a:off x="6238613" y="4855645"/>
            <a:ext cx="4763" cy="30479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2" name="TextBox 1">
            <a:extLst>
              <a:ext uri="{FF2B5EF4-FFF2-40B4-BE49-F238E27FC236}">
                <a16:creationId xmlns:a16="http://schemas.microsoft.com/office/drawing/2014/main" id="{1F7ACCFB-CF9D-165F-F4F7-8D05405AC285}"/>
              </a:ext>
            </a:extLst>
          </p:cNvPr>
          <p:cNvSpPr txBox="1"/>
          <p:nvPr/>
        </p:nvSpPr>
        <p:spPr>
          <a:xfrm>
            <a:off x="360120" y="5835796"/>
            <a:ext cx="8095208" cy="738664"/>
          </a:xfrm>
          <a:prstGeom prst="rect">
            <a:avLst/>
          </a:prstGeom>
          <a:noFill/>
        </p:spPr>
        <p:txBody>
          <a:bodyPr wrap="square" rtlCol="0">
            <a:spAutoFit/>
          </a:bodyPr>
          <a:lstStyle/>
          <a:p>
            <a:r>
              <a:rPr lang="en-US" sz="1400" b="1" i="1" dirty="0"/>
              <a:t>NOTE</a:t>
            </a:r>
            <a:r>
              <a:rPr lang="en-US" sz="1400" i="1" dirty="0"/>
              <a:t> – the term “Bank” in this context refers to banks of </a:t>
            </a:r>
            <a:r>
              <a:rPr lang="en-US" sz="1400" i="1" dirty="0" err="1"/>
              <a:t>GigPerformer</a:t>
            </a:r>
            <a:r>
              <a:rPr lang="en-US" sz="1400" i="1" dirty="0"/>
              <a:t> widgets, songs, or racks as described in the next section.  It has nothing to do with Banks as defined on the </a:t>
            </a:r>
            <a:r>
              <a:rPr lang="en-US" sz="1400" i="1" dirty="0" err="1"/>
              <a:t>MCx</a:t>
            </a:r>
            <a:r>
              <a:rPr lang="en-US" sz="1400" i="1" dirty="0"/>
              <a:t>.  The </a:t>
            </a:r>
            <a:r>
              <a:rPr lang="en-US" sz="1400" i="1" dirty="0" err="1"/>
              <a:t>MCx</a:t>
            </a:r>
            <a:r>
              <a:rPr lang="en-US" sz="1400" i="1" dirty="0"/>
              <a:t> extension will always operate within a single Bank as defined on the </a:t>
            </a:r>
            <a:r>
              <a:rPr lang="en-US" sz="1400" i="1" dirty="0" err="1"/>
              <a:t>MCx</a:t>
            </a:r>
            <a:r>
              <a:rPr lang="en-US" sz="1400" i="1" dirty="0"/>
              <a:t>.</a:t>
            </a:r>
          </a:p>
        </p:txBody>
      </p:sp>
    </p:spTree>
    <p:extLst>
      <p:ext uri="{BB962C8B-B14F-4D97-AF65-F5344CB8AC3E}">
        <p14:creationId xmlns:p14="http://schemas.microsoft.com/office/powerpoint/2010/main" val="31533424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1261884"/>
          </a:xfrm>
          <a:prstGeom prst="rect">
            <a:avLst/>
          </a:prstGeom>
          <a:noFill/>
        </p:spPr>
        <p:txBody>
          <a:bodyPr wrap="square" rtlCol="0">
            <a:spAutoFit/>
          </a:bodyPr>
          <a:lstStyle/>
          <a:p>
            <a:r>
              <a:rPr lang="en-US" sz="1400" b="1" dirty="0"/>
              <a:t>Widget Configuration</a:t>
            </a:r>
          </a:p>
          <a:p>
            <a:endParaRPr lang="en-US" sz="1400" b="1" dirty="0"/>
          </a:p>
          <a:p>
            <a:r>
              <a:rPr lang="en-US" sz="1200" dirty="0"/>
              <a:t>The MC8 extension identifies </a:t>
            </a:r>
            <a:r>
              <a:rPr lang="en-US" sz="1200" dirty="0" err="1"/>
              <a:t>GigPerformer</a:t>
            </a:r>
            <a:r>
              <a:rPr lang="en-US" sz="1200" dirty="0"/>
              <a:t> widgets the user would like to use by their OSC/</a:t>
            </a:r>
            <a:r>
              <a:rPr lang="en-US" sz="1200" dirty="0" err="1"/>
              <a:t>GPScript</a:t>
            </a:r>
            <a:r>
              <a:rPr lang="en-US" sz="1200" dirty="0"/>
              <a:t> Name as set in the Advanced tab of the widget editor.</a:t>
            </a:r>
          </a:p>
          <a:p>
            <a:endParaRPr lang="en-US" sz="1200" dirty="0"/>
          </a:p>
          <a:p>
            <a:r>
              <a:rPr lang="en-US" sz="1200" dirty="0"/>
              <a:t>To be controlled by the </a:t>
            </a:r>
            <a:r>
              <a:rPr lang="en-US" sz="1200" dirty="0" err="1"/>
              <a:t>MCx</a:t>
            </a:r>
            <a:r>
              <a:rPr lang="en-US" sz="1200" dirty="0"/>
              <a:t> extension the </a:t>
            </a:r>
            <a:r>
              <a:rPr lang="en-US" sz="1200" dirty="0" err="1"/>
              <a:t>GPScript</a:t>
            </a:r>
            <a:r>
              <a:rPr lang="en-US" sz="1200" dirty="0"/>
              <a:t> Name must conform to the following format:</a:t>
            </a:r>
          </a:p>
        </p:txBody>
      </p:sp>
      <p:sp>
        <p:nvSpPr>
          <p:cNvPr id="5" name="TextBox 4"/>
          <p:cNvSpPr txBox="1"/>
          <p:nvPr/>
        </p:nvSpPr>
        <p:spPr>
          <a:xfrm>
            <a:off x="2549509" y="1704975"/>
            <a:ext cx="3407984" cy="400110"/>
          </a:xfrm>
          <a:prstGeom prst="rect">
            <a:avLst/>
          </a:prstGeom>
          <a:noFill/>
        </p:spPr>
        <p:txBody>
          <a:bodyPr wrap="none" rtlCol="0">
            <a:spAutoFit/>
          </a:bodyPr>
          <a:lstStyle/>
          <a:p>
            <a:r>
              <a:rPr lang="en-US" sz="2000" dirty="0" err="1"/>
              <a:t>mcx_rowID_bankID</a:t>
            </a:r>
            <a:r>
              <a:rPr lang="en-US" sz="2000" dirty="0"/>
              <a:t>_[position]</a:t>
            </a:r>
          </a:p>
        </p:txBody>
      </p:sp>
      <p:sp>
        <p:nvSpPr>
          <p:cNvPr id="6" name="TextBox 5"/>
          <p:cNvSpPr txBox="1"/>
          <p:nvPr/>
        </p:nvSpPr>
        <p:spPr>
          <a:xfrm>
            <a:off x="314325" y="2571749"/>
            <a:ext cx="1666875" cy="646331"/>
          </a:xfrm>
          <a:prstGeom prst="rect">
            <a:avLst/>
          </a:prstGeom>
          <a:noFill/>
        </p:spPr>
        <p:txBody>
          <a:bodyPr wrap="square" rtlCol="0">
            <a:spAutoFit/>
          </a:bodyPr>
          <a:lstStyle/>
          <a:p>
            <a:r>
              <a:rPr lang="en-US" sz="1200" dirty="0"/>
              <a:t>“mcx” identifies it as a widget of interest to the MC8 extension</a:t>
            </a:r>
          </a:p>
        </p:txBody>
      </p:sp>
      <p:sp>
        <p:nvSpPr>
          <p:cNvPr id="7" name="TextBox 6"/>
          <p:cNvSpPr txBox="1"/>
          <p:nvPr/>
        </p:nvSpPr>
        <p:spPr>
          <a:xfrm>
            <a:off x="2130409" y="2571749"/>
            <a:ext cx="1936766" cy="2492990"/>
          </a:xfrm>
          <a:prstGeom prst="rect">
            <a:avLst/>
          </a:prstGeom>
          <a:noFill/>
        </p:spPr>
        <p:txBody>
          <a:bodyPr wrap="square" rtlCol="0">
            <a:spAutoFit/>
          </a:bodyPr>
          <a:lstStyle/>
          <a:p>
            <a:r>
              <a:rPr lang="en-US" sz="1200" dirty="0"/>
              <a:t>“row ID” indicates which row of buttons and display this widget will appear on.  The choices are:</a:t>
            </a:r>
          </a:p>
          <a:p>
            <a:pPr marL="171450" indent="-171450">
              <a:buFont typeface="Arial" panose="020B0604020202020204" pitchFamily="34" charset="0"/>
              <a:buChar char="•"/>
            </a:pPr>
            <a:r>
              <a:rPr lang="en-US" sz="1200" dirty="0"/>
              <a:t>t = top row</a:t>
            </a:r>
          </a:p>
          <a:p>
            <a:pPr marL="171450" indent="-171450">
              <a:buFont typeface="Arial" panose="020B0604020202020204" pitchFamily="34" charset="0"/>
              <a:buChar char="•"/>
            </a:pPr>
            <a:r>
              <a:rPr lang="en-US" sz="1200" dirty="0"/>
              <a:t>b = bottom row</a:t>
            </a:r>
          </a:p>
          <a:p>
            <a:pPr marL="171450" indent="-171450">
              <a:buFont typeface="Arial" panose="020B0604020202020204" pitchFamily="34" charset="0"/>
              <a:buChar char="•"/>
            </a:pPr>
            <a:r>
              <a:rPr lang="en-US" sz="1200" dirty="0"/>
              <a:t>t2 = top row of page 2</a:t>
            </a:r>
          </a:p>
          <a:p>
            <a:pPr marL="171450" indent="-171450">
              <a:buFont typeface="Arial" panose="020B0604020202020204" pitchFamily="34" charset="0"/>
              <a:buChar char="•"/>
            </a:pPr>
            <a:r>
              <a:rPr lang="en-US" sz="1200" dirty="0"/>
              <a:t>b2 = bottom row page 2</a:t>
            </a:r>
          </a:p>
          <a:p>
            <a:pPr marL="171450" indent="-171450">
              <a:buFont typeface="Arial" panose="020B0604020202020204" pitchFamily="34" charset="0"/>
              <a:buChar char="•"/>
            </a:pPr>
            <a:endParaRPr lang="en-US" sz="1200" dirty="0"/>
          </a:p>
          <a:p>
            <a:pPr marL="171450" indent="-171450">
              <a:buFont typeface="Arial" panose="020B0604020202020204" pitchFamily="34" charset="0"/>
              <a:buChar char="•"/>
            </a:pPr>
            <a:r>
              <a:rPr lang="en-US" sz="1200" dirty="0"/>
              <a:t>e1 = expression pedal</a:t>
            </a:r>
          </a:p>
          <a:p>
            <a:pPr marL="171450" indent="-171450">
              <a:buFont typeface="Arial" panose="020B0604020202020204" pitchFamily="34" charset="0"/>
              <a:buChar char="•"/>
            </a:pPr>
            <a:r>
              <a:rPr lang="en-US" sz="1200" dirty="0"/>
              <a:t>e2 = expression pedal</a:t>
            </a:r>
          </a:p>
          <a:p>
            <a:pPr marL="171450" indent="-171450">
              <a:buFont typeface="Arial" panose="020B0604020202020204" pitchFamily="34" charset="0"/>
              <a:buChar char="•"/>
            </a:pPr>
            <a:r>
              <a:rPr lang="en-US" sz="1200" dirty="0"/>
              <a:t>e3 = expression pedal</a:t>
            </a:r>
          </a:p>
          <a:p>
            <a:pPr marL="171450" indent="-171450">
              <a:buFont typeface="Arial" panose="020B0604020202020204" pitchFamily="34" charset="0"/>
              <a:buChar char="•"/>
            </a:pPr>
            <a:r>
              <a:rPr lang="en-US" sz="1200" dirty="0"/>
              <a:t>e4 = expression pedal</a:t>
            </a:r>
          </a:p>
        </p:txBody>
      </p:sp>
      <p:sp>
        <p:nvSpPr>
          <p:cNvPr id="8" name="TextBox 7"/>
          <p:cNvSpPr txBox="1"/>
          <p:nvPr/>
        </p:nvSpPr>
        <p:spPr>
          <a:xfrm>
            <a:off x="4133850" y="2571749"/>
            <a:ext cx="2076450" cy="2677656"/>
          </a:xfrm>
          <a:prstGeom prst="rect">
            <a:avLst/>
          </a:prstGeom>
          <a:noFill/>
        </p:spPr>
        <p:txBody>
          <a:bodyPr wrap="square" rtlCol="0">
            <a:spAutoFit/>
          </a:bodyPr>
          <a:lstStyle/>
          <a:p>
            <a:r>
              <a:rPr lang="en-US" sz="1200" dirty="0"/>
              <a:t>“bank ID” is any arbitrary name for this group of widgets that is meaningful to you.  Typical examples would be:</a:t>
            </a:r>
          </a:p>
          <a:p>
            <a:pPr marL="171450" indent="-171450">
              <a:buFont typeface="Arial" panose="020B0604020202020204" pitchFamily="34" charset="0"/>
              <a:buChar char="•"/>
            </a:pPr>
            <a:r>
              <a:rPr lang="en-US" sz="1200" dirty="0" err="1"/>
              <a:t>fx</a:t>
            </a:r>
            <a:r>
              <a:rPr lang="en-US" sz="1200" dirty="0"/>
              <a:t> = general effect toggles</a:t>
            </a:r>
          </a:p>
          <a:p>
            <a:pPr marL="171450" indent="-171450">
              <a:buFont typeface="Arial" panose="020B0604020202020204" pitchFamily="34" charset="0"/>
              <a:buChar char="•"/>
            </a:pPr>
            <a:r>
              <a:rPr lang="en-US" sz="1200" dirty="0"/>
              <a:t>fx2 = a second bank of </a:t>
            </a:r>
            <a:r>
              <a:rPr lang="en-US" sz="1200" dirty="0" err="1"/>
              <a:t>fx</a:t>
            </a:r>
            <a:r>
              <a:rPr lang="en-US" sz="1200" dirty="0"/>
              <a:t> toggles</a:t>
            </a:r>
          </a:p>
          <a:p>
            <a:pPr marL="171450" indent="-171450">
              <a:buFont typeface="Arial" panose="020B0604020202020204" pitchFamily="34" charset="0"/>
              <a:buChar char="•"/>
            </a:pPr>
            <a:r>
              <a:rPr lang="en-US" sz="1200" dirty="0" err="1"/>
              <a:t>eq</a:t>
            </a:r>
            <a:r>
              <a:rPr lang="en-US" sz="1200" dirty="0"/>
              <a:t> = toggles for different bands on a parametric </a:t>
            </a:r>
            <a:r>
              <a:rPr lang="en-US" sz="1200" dirty="0" err="1"/>
              <a:t>eq</a:t>
            </a:r>
            <a:endParaRPr lang="en-US" sz="1200" dirty="0"/>
          </a:p>
          <a:p>
            <a:pPr marL="171450" indent="-171450">
              <a:buFont typeface="Arial" panose="020B0604020202020204" pitchFamily="34" charset="0"/>
              <a:buChar char="•"/>
            </a:pPr>
            <a:r>
              <a:rPr lang="en-US" sz="1200" dirty="0"/>
              <a:t>sys = widgets assigned to GP functions like Play/Stop, Tap Tempo, etc.</a:t>
            </a:r>
          </a:p>
          <a:p>
            <a:pPr marL="171450" indent="-171450">
              <a:buFont typeface="Arial" panose="020B0604020202020204" pitchFamily="34" charset="0"/>
              <a:buChar char="•"/>
            </a:pPr>
            <a:endParaRPr lang="en-US" sz="1200" dirty="0"/>
          </a:p>
        </p:txBody>
      </p:sp>
      <p:sp>
        <p:nvSpPr>
          <p:cNvPr id="9" name="TextBox 8"/>
          <p:cNvSpPr txBox="1"/>
          <p:nvPr/>
        </p:nvSpPr>
        <p:spPr>
          <a:xfrm>
            <a:off x="6257925" y="2571749"/>
            <a:ext cx="2076450" cy="2123658"/>
          </a:xfrm>
          <a:prstGeom prst="rect">
            <a:avLst/>
          </a:prstGeom>
          <a:noFill/>
        </p:spPr>
        <p:txBody>
          <a:bodyPr wrap="square" rtlCol="0">
            <a:spAutoFit/>
          </a:bodyPr>
          <a:lstStyle/>
          <a:p>
            <a:r>
              <a:rPr lang="en-US" sz="1200" dirty="0"/>
              <a:t>“position” must be in the range of 0 – 3 to indicate which switch/display position the widget will appear in.  Zero is the leftmost position, 3 is the rightmost</a:t>
            </a:r>
          </a:p>
          <a:p>
            <a:endParaRPr lang="en-US" sz="1200" dirty="0"/>
          </a:p>
          <a:p>
            <a:r>
              <a:rPr lang="en-US" sz="1200" dirty="0"/>
              <a:t>MC6 units will only display and control widgets with a position of 0 – 2</a:t>
            </a:r>
          </a:p>
          <a:p>
            <a:pPr marL="171450" indent="-171450">
              <a:buFont typeface="Arial" panose="020B0604020202020204" pitchFamily="34" charset="0"/>
              <a:buChar char="•"/>
            </a:pPr>
            <a:endParaRPr lang="en-US" sz="1200" dirty="0"/>
          </a:p>
        </p:txBody>
      </p:sp>
      <p:sp>
        <p:nvSpPr>
          <p:cNvPr id="17" name="Left Brace 16"/>
          <p:cNvSpPr/>
          <p:nvPr/>
        </p:nvSpPr>
        <p:spPr>
          <a:xfrm rot="16200000">
            <a:off x="2800353" y="2016711"/>
            <a:ext cx="73003" cy="31426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8" name="Left Brace 17"/>
          <p:cNvSpPr/>
          <p:nvPr/>
        </p:nvSpPr>
        <p:spPr>
          <a:xfrm rot="16200000">
            <a:off x="3466827" y="1864587"/>
            <a:ext cx="60893" cy="60640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9" name="Left Brace 18"/>
          <p:cNvSpPr/>
          <p:nvPr/>
        </p:nvSpPr>
        <p:spPr>
          <a:xfrm rot="16200000">
            <a:off x="4263790" y="1864587"/>
            <a:ext cx="60893" cy="60640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0" name="Left Brace 19"/>
          <p:cNvSpPr/>
          <p:nvPr/>
        </p:nvSpPr>
        <p:spPr>
          <a:xfrm rot="16200000">
            <a:off x="5282965" y="1864586"/>
            <a:ext cx="60893" cy="60640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2" name="Elbow Connector 21"/>
          <p:cNvCxnSpPr>
            <a:stCxn id="6" idx="0"/>
            <a:endCxn id="17" idx="1"/>
          </p:cNvCxnSpPr>
          <p:nvPr/>
        </p:nvCxnSpPr>
        <p:spPr>
          <a:xfrm rot="5400000" flipH="1" flipV="1">
            <a:off x="1811607" y="1546501"/>
            <a:ext cx="361404" cy="1689092"/>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24" name="Elbow Connector 23"/>
          <p:cNvCxnSpPr>
            <a:stCxn id="7" idx="0"/>
            <a:endCxn id="18" idx="1"/>
          </p:cNvCxnSpPr>
          <p:nvPr/>
        </p:nvCxnSpPr>
        <p:spPr>
          <a:xfrm rot="5400000" flipH="1" flipV="1">
            <a:off x="3111276" y="2185751"/>
            <a:ext cx="373514" cy="398482"/>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26" name="Elbow Connector 25"/>
          <p:cNvCxnSpPr>
            <a:endCxn id="19" idx="1"/>
          </p:cNvCxnSpPr>
          <p:nvPr/>
        </p:nvCxnSpPr>
        <p:spPr>
          <a:xfrm rot="16200000" flipV="1">
            <a:off x="4517824" y="1974648"/>
            <a:ext cx="373514" cy="820688"/>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30" name="Elbow Connector 29"/>
          <p:cNvCxnSpPr>
            <a:stCxn id="9" idx="0"/>
            <a:endCxn id="20" idx="1"/>
          </p:cNvCxnSpPr>
          <p:nvPr/>
        </p:nvCxnSpPr>
        <p:spPr>
          <a:xfrm rot="16200000" flipV="1">
            <a:off x="6118024" y="1393623"/>
            <a:ext cx="373515" cy="1982738"/>
          </a:xfrm>
          <a:prstGeom prst="bentConnector3">
            <a:avLst/>
          </a:prstGeom>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362992" y="5253187"/>
            <a:ext cx="8095208" cy="1384995"/>
          </a:xfrm>
          <a:prstGeom prst="rect">
            <a:avLst/>
          </a:prstGeom>
          <a:noFill/>
        </p:spPr>
        <p:txBody>
          <a:bodyPr wrap="square" rtlCol="0">
            <a:spAutoFit/>
          </a:bodyPr>
          <a:lstStyle/>
          <a:p>
            <a:r>
              <a:rPr lang="en-US" sz="1200" dirty="0"/>
              <a:t>A typical bank of four widgets to appear on the bottom row of page one could be:</a:t>
            </a:r>
          </a:p>
          <a:p>
            <a:r>
              <a:rPr lang="en-US" sz="1200" dirty="0"/>
              <a:t>	mcx_b_fx_0	mcx_b_fx_1	mcx_b_fx_2	mcx_b_fx_3</a:t>
            </a:r>
          </a:p>
          <a:p>
            <a:endParaRPr lang="en-US" sz="1200" dirty="0"/>
          </a:p>
          <a:p>
            <a:r>
              <a:rPr lang="en-US" sz="1200" dirty="0"/>
              <a:t>A second bank of four widgets to appear on the same row would be:</a:t>
            </a:r>
          </a:p>
          <a:p>
            <a:r>
              <a:rPr lang="en-US" sz="1200" dirty="0"/>
              <a:t>	mcx_b_fx2_0	mcx_b_fx2_1	mcx_b_fx2_2	mcx_b_fx2_3</a:t>
            </a:r>
          </a:p>
          <a:p>
            <a:endParaRPr lang="en-US" sz="1200" dirty="0"/>
          </a:p>
          <a:p>
            <a:r>
              <a:rPr lang="en-US" sz="1200" dirty="0"/>
              <a:t>The </a:t>
            </a:r>
            <a:r>
              <a:rPr lang="en-US" sz="1200" dirty="0" err="1"/>
              <a:t>bankIDs</a:t>
            </a:r>
            <a:r>
              <a:rPr lang="en-US" sz="1200" dirty="0"/>
              <a:t> can be rotated through in alphabetical order using the “bank up” and “bank down” controls.</a:t>
            </a:r>
          </a:p>
        </p:txBody>
      </p:sp>
    </p:spTree>
    <p:extLst>
      <p:ext uri="{BB962C8B-B14F-4D97-AF65-F5344CB8AC3E}">
        <p14:creationId xmlns:p14="http://schemas.microsoft.com/office/powerpoint/2010/main" val="8213716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6247864"/>
          </a:xfrm>
          <a:prstGeom prst="rect">
            <a:avLst/>
          </a:prstGeom>
          <a:noFill/>
        </p:spPr>
        <p:txBody>
          <a:bodyPr wrap="square" rtlCol="0">
            <a:spAutoFit/>
          </a:bodyPr>
          <a:lstStyle/>
          <a:p>
            <a:r>
              <a:rPr lang="en-US" sz="1400" b="1" dirty="0"/>
              <a:t>Special Configuration Widgets</a:t>
            </a:r>
          </a:p>
          <a:p>
            <a:endParaRPr lang="en-US" sz="1400" b="1" dirty="0"/>
          </a:p>
          <a:p>
            <a:r>
              <a:rPr lang="en-US" sz="1200" dirty="0"/>
              <a:t>Several “configuration” widget groups are available to control how widgets appear on the display.  These include:</a:t>
            </a:r>
          </a:p>
          <a:p>
            <a:pPr marL="628650" lvl="1" indent="-171450">
              <a:buFont typeface="Arial" panose="020B0604020202020204" pitchFamily="34" charset="0"/>
              <a:buChar char="•"/>
            </a:pPr>
            <a:r>
              <a:rPr lang="en-US" sz="1200" dirty="0"/>
              <a:t>“Parameter” widgets, which control the names that appear on the MC8 display when values are on or off</a:t>
            </a:r>
          </a:p>
          <a:p>
            <a:pPr marL="628650" lvl="1" indent="-171450">
              <a:buFont typeface="Arial" panose="020B0604020202020204" pitchFamily="34" charset="0"/>
              <a:buChar char="•"/>
            </a:pPr>
            <a:r>
              <a:rPr lang="en-US" sz="1200" dirty="0"/>
              <a:t>“Indicator” widgets, which can be used to remember which widget banks are active on the MC8 screen when </a:t>
            </a:r>
            <a:r>
              <a:rPr lang="en-US" sz="1200" dirty="0" err="1"/>
              <a:t>rackspaces</a:t>
            </a:r>
            <a:r>
              <a:rPr lang="en-US" sz="1200" dirty="0"/>
              <a:t>, or variations are changed</a:t>
            </a:r>
          </a:p>
          <a:p>
            <a:pPr marL="628650" lvl="1" indent="-171450">
              <a:buFont typeface="Arial" panose="020B0604020202020204" pitchFamily="34" charset="0"/>
              <a:buChar char="•"/>
            </a:pPr>
            <a:r>
              <a:rPr lang="en-US" sz="1200" dirty="0"/>
              <a:t>“</a:t>
            </a:r>
            <a:r>
              <a:rPr lang="en-US" sz="1200" dirty="0" err="1"/>
              <a:t>row_configuration</a:t>
            </a:r>
            <a:r>
              <a:rPr lang="en-US" sz="1200" dirty="0"/>
              <a:t>” widgets, which tell the extension what functions you want to appear on each of the four MC8 display rows by default (the four rows being “b, t, b2, and t2” as explained previously)</a:t>
            </a:r>
          </a:p>
          <a:p>
            <a:pPr marL="628650" lvl="1" indent="-171450">
              <a:buFont typeface="Arial" panose="020B0604020202020204" pitchFamily="34" charset="0"/>
              <a:buChar char="•"/>
            </a:pPr>
            <a:endParaRPr lang="en-US" sz="1200" dirty="0"/>
          </a:p>
          <a:p>
            <a:pPr marL="628650" lvl="1" indent="-171450">
              <a:buFont typeface="Arial" panose="020B0604020202020204" pitchFamily="34" charset="0"/>
              <a:buChar char="•"/>
            </a:pPr>
            <a:endParaRPr lang="en-US" sz="1200" dirty="0"/>
          </a:p>
          <a:p>
            <a:r>
              <a:rPr lang="en-US" sz="1200" b="1" dirty="0"/>
              <a:t>Parameter widgets </a:t>
            </a:r>
            <a:r>
              <a:rPr lang="en-US" sz="1200" dirty="0"/>
              <a:t>are optional and correspond 1:1 with the basic mcx widgets previously described.  The naming format is identical but with the addition of a “p” character appended to the </a:t>
            </a:r>
            <a:r>
              <a:rPr lang="en-US" sz="1200" dirty="0" err="1"/>
              <a:t>row_ID</a:t>
            </a:r>
            <a:r>
              <a:rPr lang="en-US" sz="1200" dirty="0"/>
              <a:t>.</a:t>
            </a:r>
          </a:p>
          <a:p>
            <a:pPr marL="628650" lvl="1" indent="-171450">
              <a:buFont typeface="Arial" panose="020B0604020202020204" pitchFamily="34" charset="0"/>
              <a:buChar char="•"/>
            </a:pPr>
            <a:r>
              <a:rPr lang="en-US" sz="1200" dirty="0"/>
              <a:t>Our prior example illustrated basic widgets named as:  mcx_b_fx_0    mcx_b_fx_1    mcx_b_fx_2    mcx_b_fx_3</a:t>
            </a:r>
          </a:p>
          <a:p>
            <a:pPr marL="628650" lvl="1" indent="-171450">
              <a:buFont typeface="Arial" panose="020B0604020202020204" pitchFamily="34" charset="0"/>
              <a:buChar char="•"/>
            </a:pPr>
            <a:r>
              <a:rPr lang="en-US" sz="1200" dirty="0"/>
              <a:t>The corresponding “p” widgets would be named:  mcx_bp_fx_0    mcx_bp_fx_1    mcx_bp_fx_2    mcx_bp_fx_3</a:t>
            </a:r>
          </a:p>
          <a:p>
            <a:pPr lvl="1"/>
            <a:endParaRPr lang="en-US" sz="1200" dirty="0"/>
          </a:p>
          <a:p>
            <a:pPr marL="628650" lvl="1" indent="-171450">
              <a:buFont typeface="Arial" panose="020B0604020202020204" pitchFamily="34" charset="0"/>
              <a:buChar char="•"/>
            </a:pPr>
            <a:r>
              <a:rPr lang="en-US" sz="1200" dirty="0"/>
              <a:t>If a widget with the appropriate GP Script Name is found it will control what appears on the MC8 display based on the text of the widget Caption as set by the user on the General tab of the widget editor.</a:t>
            </a:r>
          </a:p>
          <a:p>
            <a:pPr marL="628650" lvl="1" indent="-171450">
              <a:buFont typeface="Arial" panose="020B0604020202020204" pitchFamily="34" charset="0"/>
              <a:buChar char="•"/>
            </a:pPr>
            <a:r>
              <a:rPr lang="en-US" sz="1200" dirty="0"/>
              <a:t>The format of the Caption will be interpreted as “Off </a:t>
            </a:r>
            <a:r>
              <a:rPr lang="en-US" sz="1200" dirty="0" err="1"/>
              <a:t>name_On</a:t>
            </a:r>
            <a:r>
              <a:rPr lang="en-US" sz="1200" dirty="0"/>
              <a:t> </a:t>
            </a:r>
            <a:r>
              <a:rPr lang="en-US" sz="1200" dirty="0" err="1"/>
              <a:t>name_Long</a:t>
            </a:r>
            <a:r>
              <a:rPr lang="en-US" sz="1200" dirty="0"/>
              <a:t> name”</a:t>
            </a:r>
          </a:p>
          <a:p>
            <a:pPr marL="628650" lvl="1" indent="-171450">
              <a:buFont typeface="Arial" panose="020B0604020202020204" pitchFamily="34" charset="0"/>
              <a:buChar char="•"/>
            </a:pPr>
            <a:r>
              <a:rPr lang="en-US" sz="1200" dirty="0"/>
              <a:t>A typical example would be “Chorus_(Chorus)_Boss CE-2 Chorus”</a:t>
            </a:r>
          </a:p>
          <a:p>
            <a:pPr marL="628650" lvl="1" indent="-171450">
              <a:buFont typeface="Arial" panose="020B0604020202020204" pitchFamily="34" charset="0"/>
              <a:buChar char="•"/>
            </a:pPr>
            <a:r>
              <a:rPr lang="en-US" sz="1200" dirty="0"/>
              <a:t>This will the name “Chorus” on the MC8 when the widget is off and “(Chorus)” when on.  The “Long name” part of the caption is not presently used and may be excluded</a:t>
            </a:r>
          </a:p>
          <a:p>
            <a:pPr marL="628650" lvl="1" indent="-171450">
              <a:buFont typeface="Arial" panose="020B0604020202020204" pitchFamily="34" charset="0"/>
              <a:buChar char="•"/>
            </a:pPr>
            <a:endParaRPr lang="en-US" sz="1200" dirty="0"/>
          </a:p>
          <a:p>
            <a:pPr marL="628650" lvl="1" indent="-171450">
              <a:buFont typeface="Arial" panose="020B0604020202020204" pitchFamily="34" charset="0"/>
              <a:buChar char="•"/>
            </a:pPr>
            <a:r>
              <a:rPr lang="en-US" sz="1200" dirty="0"/>
              <a:t>These widget are usually hidden in GP for aesthetic reasons, using the “Hide” option on the General tab in edit mode</a:t>
            </a:r>
          </a:p>
          <a:p>
            <a:pPr marL="628650" lvl="1" indent="-171450">
              <a:buFont typeface="Arial" panose="020B0604020202020204" pitchFamily="34" charset="0"/>
              <a:buChar char="•"/>
            </a:pPr>
            <a:endParaRPr lang="en-US" sz="1200" dirty="0"/>
          </a:p>
          <a:p>
            <a:pPr marL="628650" lvl="1" indent="-171450">
              <a:buFont typeface="Arial" panose="020B0604020202020204" pitchFamily="34" charset="0"/>
              <a:buChar char="•"/>
            </a:pPr>
            <a:r>
              <a:rPr lang="en-US" sz="1200" dirty="0"/>
              <a:t>In the absence of a “p” widget the MC8 will display the Caption of the underlying widget when the widget is off, and place a * in front of the same when it is on.</a:t>
            </a:r>
          </a:p>
          <a:p>
            <a:pPr marL="628650" lvl="1" indent="-171450">
              <a:buFont typeface="Arial" panose="020B0604020202020204" pitchFamily="34" charset="0"/>
              <a:buChar char="•"/>
            </a:pPr>
            <a:r>
              <a:rPr lang="en-US" sz="1200" dirty="0"/>
              <a:t>For example, if the mcx_b_fx_0 widget had a caption of “Chorus” this would appear on the MC8 display as “Chorus” when the widget was toggled off, and “*Chorus” when toggled on</a:t>
            </a:r>
          </a:p>
          <a:p>
            <a:pPr marL="628650" lvl="1" indent="-171450">
              <a:buFont typeface="Arial" panose="020B0604020202020204" pitchFamily="34" charset="0"/>
              <a:buChar char="•"/>
            </a:pPr>
            <a:endParaRPr lang="en-US" sz="1200" dirty="0"/>
          </a:p>
          <a:p>
            <a:pPr marL="628650" lvl="1" indent="-171450">
              <a:buFont typeface="Arial" panose="020B0604020202020204" pitchFamily="34" charset="0"/>
              <a:buChar char="•"/>
            </a:pPr>
            <a:r>
              <a:rPr lang="en-US" sz="1200" dirty="0"/>
              <a:t>Note that allowing GP to change the widget caption based on the widget value or temporary values communicated by the underlying VST may produce unreliable results on the MC8 display due to timing issues around reading widget values, particularly during Rackspace and Variation changes</a:t>
            </a:r>
          </a:p>
          <a:p>
            <a:pPr lvl="1"/>
            <a:endParaRPr lang="en-US" sz="1200" dirty="0"/>
          </a:p>
        </p:txBody>
      </p:sp>
    </p:spTree>
    <p:extLst>
      <p:ext uri="{BB962C8B-B14F-4D97-AF65-F5344CB8AC3E}">
        <p14:creationId xmlns:p14="http://schemas.microsoft.com/office/powerpoint/2010/main" val="41540462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0910"/>
            <a:ext cx="8095208" cy="5632311"/>
          </a:xfrm>
          <a:prstGeom prst="rect">
            <a:avLst/>
          </a:prstGeom>
          <a:noFill/>
        </p:spPr>
        <p:txBody>
          <a:bodyPr wrap="square" rtlCol="0">
            <a:spAutoFit/>
          </a:bodyPr>
          <a:lstStyle/>
          <a:p>
            <a:pPr lvl="1"/>
            <a:endParaRPr lang="en-US" sz="1200" dirty="0"/>
          </a:p>
          <a:p>
            <a:r>
              <a:rPr lang="en-US" sz="1200" b="1" dirty="0"/>
              <a:t>Indicator widgets </a:t>
            </a:r>
            <a:r>
              <a:rPr lang="en-US" sz="1200" dirty="0"/>
              <a:t>are optional and correspond to widget banks. They use an “</a:t>
            </a:r>
            <a:r>
              <a:rPr lang="en-US" sz="1200" dirty="0" err="1"/>
              <a:t>i</a:t>
            </a:r>
            <a:r>
              <a:rPr lang="en-US" sz="1200" dirty="0"/>
              <a:t>” in place of the position indicator.</a:t>
            </a:r>
          </a:p>
          <a:p>
            <a:pPr marL="628650" lvl="1" indent="-171450">
              <a:buFont typeface="Arial" panose="020B0604020202020204" pitchFamily="34" charset="0"/>
              <a:buChar char="•"/>
            </a:pPr>
            <a:r>
              <a:rPr lang="en-US" sz="1200" dirty="0"/>
              <a:t>Our prior example illustrated basic widgets named:  mcx_b_fx_0    mcx_b_fx_1    mcx_b_fx_2    mcx_b_fx_3</a:t>
            </a:r>
          </a:p>
          <a:p>
            <a:pPr marL="628650" lvl="1" indent="-171450">
              <a:buFont typeface="Arial" panose="020B0604020202020204" pitchFamily="34" charset="0"/>
              <a:buChar char="•"/>
            </a:pPr>
            <a:r>
              <a:rPr lang="en-US" sz="1200" dirty="0"/>
              <a:t>The corresponding “</a:t>
            </a:r>
            <a:r>
              <a:rPr lang="en-US" sz="1200" dirty="0" err="1"/>
              <a:t>i</a:t>
            </a:r>
            <a:r>
              <a:rPr lang="en-US" sz="1200" dirty="0"/>
              <a:t>” widget would be named:  </a:t>
            </a:r>
            <a:r>
              <a:rPr lang="en-US" sz="1200" dirty="0" err="1"/>
              <a:t>mcx_bp_fx_i</a:t>
            </a:r>
            <a:endParaRPr lang="en-US" sz="1200" dirty="0"/>
          </a:p>
          <a:p>
            <a:pPr marL="628650" lvl="1" indent="-171450">
              <a:buFont typeface="Arial" panose="020B0604020202020204" pitchFamily="34" charset="0"/>
              <a:buChar char="•"/>
            </a:pPr>
            <a:endParaRPr lang="en-US" sz="1200" dirty="0"/>
          </a:p>
          <a:p>
            <a:pPr marL="628650" lvl="1" indent="-171450">
              <a:buFont typeface="Arial" panose="020B0604020202020204" pitchFamily="34" charset="0"/>
              <a:buChar char="•"/>
            </a:pPr>
            <a:r>
              <a:rPr lang="en-US" sz="1200" dirty="0"/>
              <a:t>Indicator widgets have two purposes:  visually indicating on the GP Rackspace screen which banks of widgets are currently displayed on the MC8, and controlling which are active when a Rackspace or variation is changed.</a:t>
            </a:r>
          </a:p>
          <a:p>
            <a:pPr marL="628650" lvl="1" indent="-171450">
              <a:buFont typeface="Arial" panose="020B0604020202020204" pitchFamily="34" charset="0"/>
              <a:buChar char="•"/>
            </a:pPr>
            <a:r>
              <a:rPr lang="en-US" sz="1200" dirty="0"/>
              <a:t>The MC8 extension will set this widget to a value of 1 when the indicated bank is actively being displayed on the MC8, and to a value of 0.3 when it is not.</a:t>
            </a:r>
          </a:p>
          <a:p>
            <a:pPr marL="628650" lvl="1" indent="-171450">
              <a:buFont typeface="Arial" panose="020B0604020202020204" pitchFamily="34" charset="0"/>
              <a:buChar char="•"/>
            </a:pPr>
            <a:endParaRPr lang="en-US" sz="1200" dirty="0"/>
          </a:p>
          <a:p>
            <a:pPr marL="628650" lvl="1" indent="-171450">
              <a:buFont typeface="Arial" panose="020B0604020202020204" pitchFamily="34" charset="0"/>
              <a:buChar char="•"/>
            </a:pPr>
            <a:r>
              <a:rPr lang="en-US" sz="1200" dirty="0"/>
              <a:t>In our prior example we showed two banks of effects control widgets.  These were</a:t>
            </a:r>
          </a:p>
          <a:p>
            <a:pPr marL="1085850" lvl="2" indent="-171450">
              <a:buFont typeface="Arial" panose="020B0604020202020204" pitchFamily="34" charset="0"/>
              <a:buChar char="•"/>
            </a:pPr>
            <a:r>
              <a:rPr lang="en-US" sz="1200" dirty="0"/>
              <a:t>mcx_b_fx_0	mcx_b_fx_1	mcx_b_fx_2	mcx_b_fx_3</a:t>
            </a:r>
          </a:p>
          <a:p>
            <a:pPr marL="1085850" lvl="2" indent="-171450">
              <a:buFont typeface="Arial" panose="020B0604020202020204" pitchFamily="34" charset="0"/>
              <a:buChar char="•"/>
            </a:pPr>
            <a:r>
              <a:rPr lang="en-US" sz="1200" dirty="0"/>
              <a:t>mcx_b_fx2_0	mcx_b_fx2_1	mcx_b_fx2_2	mcx_b_fx2_3</a:t>
            </a:r>
          </a:p>
          <a:p>
            <a:pPr marL="1085850" lvl="2" indent="-171450">
              <a:buFont typeface="Arial" panose="020B0604020202020204" pitchFamily="34" charset="0"/>
              <a:buChar char="•"/>
            </a:pPr>
            <a:endParaRPr lang="en-US" sz="1200" dirty="0"/>
          </a:p>
          <a:p>
            <a:pPr marL="628650" lvl="1" indent="-171450">
              <a:buFont typeface="Arial" panose="020B0604020202020204" pitchFamily="34" charset="0"/>
              <a:buChar char="•"/>
            </a:pPr>
            <a:r>
              <a:rPr lang="en-US" sz="1200" dirty="0"/>
              <a:t>In the absence of any “</a:t>
            </a:r>
            <a:r>
              <a:rPr lang="en-US" sz="1200" dirty="0" err="1"/>
              <a:t>i</a:t>
            </a:r>
            <a:r>
              <a:rPr lang="en-US" sz="1200" dirty="0"/>
              <a:t>” widgets the MC8 extension will display the group with the </a:t>
            </a:r>
            <a:r>
              <a:rPr lang="en-US" sz="1200" dirty="0" err="1"/>
              <a:t>bankID</a:t>
            </a:r>
            <a:r>
              <a:rPr lang="en-US" sz="1200" dirty="0"/>
              <a:t> that comes first in alphabetical order.  In this case the bank “</a:t>
            </a:r>
            <a:r>
              <a:rPr lang="en-US" sz="1200" dirty="0" err="1"/>
              <a:t>fx</a:t>
            </a:r>
            <a:r>
              <a:rPr lang="en-US" sz="1200" dirty="0"/>
              <a:t>” comes before “fx2” and bank “</a:t>
            </a:r>
            <a:r>
              <a:rPr lang="en-US" sz="1200" dirty="0" err="1"/>
              <a:t>fx</a:t>
            </a:r>
            <a:r>
              <a:rPr lang="en-US" sz="1200" dirty="0"/>
              <a:t>” would be displayed whenever the Rackspace is entered.</a:t>
            </a:r>
          </a:p>
          <a:p>
            <a:pPr marL="628650" lvl="1" indent="-171450">
              <a:buFont typeface="Arial" panose="020B0604020202020204" pitchFamily="34" charset="0"/>
              <a:buChar char="•"/>
            </a:pPr>
            <a:endParaRPr lang="en-US" sz="1200" dirty="0"/>
          </a:p>
          <a:p>
            <a:pPr marL="628650" lvl="1" indent="-171450">
              <a:buFont typeface="Arial" panose="020B0604020202020204" pitchFamily="34" charset="0"/>
              <a:buChar char="•"/>
            </a:pPr>
            <a:r>
              <a:rPr lang="en-US" sz="1200" dirty="0"/>
              <a:t>If the Rackspace also contains widgets named “</a:t>
            </a:r>
            <a:r>
              <a:rPr lang="en-US" sz="1200" dirty="0" err="1"/>
              <a:t>mcx_b_fx_i</a:t>
            </a:r>
            <a:r>
              <a:rPr lang="en-US" sz="1200" dirty="0"/>
              <a:t>” and “mcx_b_fx2_i” then the extension can remember which bank you prefer to have selected when you enter a Rackspace or Variation.</a:t>
            </a:r>
          </a:p>
          <a:p>
            <a:pPr marL="628650" lvl="1" indent="-171450">
              <a:buFont typeface="Arial" panose="020B0604020202020204" pitchFamily="34" charset="0"/>
              <a:buChar char="•"/>
            </a:pPr>
            <a:endParaRPr lang="en-US" sz="1200" dirty="0"/>
          </a:p>
          <a:p>
            <a:pPr marL="628650" lvl="1" indent="-171450">
              <a:buFont typeface="Arial" panose="020B0604020202020204" pitchFamily="34" charset="0"/>
              <a:buChar char="•"/>
            </a:pPr>
            <a:r>
              <a:rPr lang="en-US" sz="1200" dirty="0"/>
              <a:t>These widgets are often hidden for aesthetic reasons, unless the user has a specific desire to reflect these values on the main Gig Performer screen.</a:t>
            </a:r>
          </a:p>
          <a:p>
            <a:pPr marL="628650" lvl="1" indent="-171450">
              <a:buFont typeface="Arial" panose="020B0604020202020204" pitchFamily="34" charset="0"/>
              <a:buChar char="•"/>
            </a:pPr>
            <a:r>
              <a:rPr lang="en-US" sz="1200" dirty="0"/>
              <a:t>These are usually created as Text widgets.  Because the extension switches the “Value” of these widgets between 0.3 and 1.0 depending on whether they are being shown on the MC8, the apparent brightness of the widgets will change on the GP screen.</a:t>
            </a:r>
          </a:p>
          <a:p>
            <a:pPr marL="628650" lvl="1" indent="-171450">
              <a:buFont typeface="Arial" panose="020B0604020202020204" pitchFamily="34" charset="0"/>
              <a:buChar char="•"/>
            </a:pPr>
            <a:r>
              <a:rPr lang="en-US" sz="1200" dirty="0"/>
              <a:t>I tend to use Text widgets instead of Shape widgets for this because the Text widget can do everything a Shape widget does, plus some additional features (such as text) than can be hidden (via transparency in the color selector) if not utilized</a:t>
            </a:r>
          </a:p>
          <a:p>
            <a:pPr marL="628650" lvl="1" indent="-171450">
              <a:buFont typeface="Arial" panose="020B0604020202020204" pitchFamily="34" charset="0"/>
              <a:buChar char="•"/>
            </a:pPr>
            <a:r>
              <a:rPr lang="en-US" sz="1200" dirty="0"/>
              <a:t>See the example </a:t>
            </a:r>
            <a:r>
              <a:rPr lang="en-US" sz="1200" dirty="0" err="1"/>
              <a:t>Rackspaces</a:t>
            </a:r>
            <a:r>
              <a:rPr lang="en-US" sz="1200" dirty="0"/>
              <a:t> in the example </a:t>
            </a:r>
            <a:r>
              <a:rPr lang="en-US" sz="1200" dirty="0" err="1"/>
              <a:t>Gigfile</a:t>
            </a:r>
            <a:r>
              <a:rPr lang="en-US" sz="1200" dirty="0"/>
              <a:t> to see one way these can be utilized visually</a:t>
            </a:r>
          </a:p>
        </p:txBody>
      </p:sp>
    </p:spTree>
    <p:extLst>
      <p:ext uri="{BB962C8B-B14F-4D97-AF65-F5344CB8AC3E}">
        <p14:creationId xmlns:p14="http://schemas.microsoft.com/office/powerpoint/2010/main" val="1360056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6186309"/>
          </a:xfrm>
          <a:prstGeom prst="rect">
            <a:avLst/>
          </a:prstGeom>
          <a:noFill/>
        </p:spPr>
        <p:txBody>
          <a:bodyPr wrap="square" rtlCol="0">
            <a:spAutoFit/>
          </a:bodyPr>
          <a:lstStyle/>
          <a:p>
            <a:pPr lvl="1"/>
            <a:endParaRPr lang="en-US" sz="1200" dirty="0"/>
          </a:p>
          <a:p>
            <a:r>
              <a:rPr lang="en-US" sz="1200" b="1" dirty="0"/>
              <a:t>Row Configuration widgets </a:t>
            </a:r>
            <a:r>
              <a:rPr lang="en-US" sz="1200" dirty="0"/>
              <a:t>are optional and come in two types that correspond to their required names:</a:t>
            </a:r>
          </a:p>
          <a:p>
            <a:pPr marL="628650" lvl="1" indent="-171450">
              <a:buFont typeface="Arial" panose="020B0604020202020204" pitchFamily="34" charset="0"/>
              <a:buChar char="•"/>
            </a:pPr>
            <a:r>
              <a:rPr lang="en-US" sz="1200" dirty="0" err="1"/>
              <a:t>mcx_initial_row_config</a:t>
            </a:r>
            <a:r>
              <a:rPr lang="en-US" sz="1200" dirty="0"/>
              <a:t> = control over what functions appear on each row when a Gig file is loaded</a:t>
            </a:r>
          </a:p>
          <a:p>
            <a:pPr marL="628650" lvl="1" indent="-171450">
              <a:buFont typeface="Arial" panose="020B0604020202020204" pitchFamily="34" charset="0"/>
              <a:buChar char="•"/>
            </a:pPr>
            <a:r>
              <a:rPr lang="en-US" sz="1200" dirty="0" err="1"/>
              <a:t>mcx_row_config</a:t>
            </a:r>
            <a:r>
              <a:rPr lang="en-US" sz="1200" dirty="0"/>
              <a:t> = same as above but may appear in multiple </a:t>
            </a:r>
            <a:r>
              <a:rPr lang="en-US" sz="1200" dirty="0" err="1"/>
              <a:t>Rackspaces</a:t>
            </a:r>
            <a:r>
              <a:rPr lang="en-US" sz="1200" dirty="0"/>
              <a:t> to configure them differently</a:t>
            </a:r>
          </a:p>
          <a:p>
            <a:pPr marL="628650" lvl="1" indent="-171450">
              <a:buFont typeface="Arial" panose="020B0604020202020204" pitchFamily="34" charset="0"/>
              <a:buChar char="•"/>
            </a:pPr>
            <a:endParaRPr lang="en-US" sz="1200" dirty="0"/>
          </a:p>
          <a:p>
            <a:pPr marL="628650" lvl="1" indent="-171450">
              <a:buFont typeface="Arial" panose="020B0604020202020204" pitchFamily="34" charset="0"/>
              <a:buChar char="•"/>
            </a:pPr>
            <a:r>
              <a:rPr lang="en-US" sz="1200" dirty="0"/>
              <a:t>Each of these widgets must have a GP Script Name as indicated above and a caption as follows:</a:t>
            </a:r>
          </a:p>
          <a:p>
            <a:pPr marL="1085850" lvl="2" indent="-171450">
              <a:buFont typeface="Arial" panose="020B0604020202020204" pitchFamily="34" charset="0"/>
              <a:buChar char="•"/>
            </a:pPr>
            <a:r>
              <a:rPr lang="en-US" sz="1200" dirty="0"/>
              <a:t>The Caption is split into four parts with “_” delimiters between them</a:t>
            </a:r>
          </a:p>
          <a:p>
            <a:pPr marL="1085850" lvl="2" indent="-171450">
              <a:buFont typeface="Arial" panose="020B0604020202020204" pitchFamily="34" charset="0"/>
              <a:buChar char="•"/>
            </a:pPr>
            <a:r>
              <a:rPr lang="en-US" sz="1200" dirty="0"/>
              <a:t>Each segment must contain one of:  “racks”, “variations”, or “buttons”</a:t>
            </a:r>
          </a:p>
          <a:p>
            <a:pPr marL="1085850" lvl="2" indent="-171450">
              <a:buFont typeface="Arial" panose="020B0604020202020204" pitchFamily="34" charset="0"/>
              <a:buChar char="•"/>
            </a:pPr>
            <a:r>
              <a:rPr lang="en-US" sz="1200" dirty="0"/>
              <a:t>Racks and Variations will be displayed when not in </a:t>
            </a:r>
            <a:r>
              <a:rPr lang="en-US" sz="1200" dirty="0" err="1"/>
              <a:t>Setlist</a:t>
            </a:r>
            <a:r>
              <a:rPr lang="en-US" sz="1200" dirty="0"/>
              <a:t> mode and will automatically switch to Songs and </a:t>
            </a:r>
            <a:r>
              <a:rPr lang="en-US" sz="1200" dirty="0" err="1"/>
              <a:t>Songparts</a:t>
            </a:r>
            <a:r>
              <a:rPr lang="en-US" sz="1200" dirty="0"/>
              <a:t> when GP is put into </a:t>
            </a:r>
            <a:r>
              <a:rPr lang="en-US" sz="1200" dirty="0" err="1"/>
              <a:t>Setlist</a:t>
            </a:r>
            <a:r>
              <a:rPr lang="en-US" sz="1200" dirty="0"/>
              <a:t> mode</a:t>
            </a:r>
          </a:p>
          <a:p>
            <a:pPr marL="1085850" lvl="2" indent="-171450">
              <a:buFont typeface="Arial" panose="020B0604020202020204" pitchFamily="34" charset="0"/>
              <a:buChar char="•"/>
            </a:pPr>
            <a:endParaRPr lang="en-US" sz="1200" dirty="0"/>
          </a:p>
          <a:p>
            <a:pPr marL="1085850" lvl="2" indent="-171450">
              <a:buFont typeface="Arial" panose="020B0604020202020204" pitchFamily="34" charset="0"/>
              <a:buChar char="•"/>
            </a:pPr>
            <a:r>
              <a:rPr lang="en-US" sz="1200" dirty="0"/>
              <a:t>The four positions correspond to what are effectively the four display rows and button banks on the MC8</a:t>
            </a:r>
          </a:p>
          <a:p>
            <a:pPr marL="1085850" lvl="2" indent="-171450">
              <a:buFont typeface="Arial" panose="020B0604020202020204" pitchFamily="34" charset="0"/>
              <a:buChar char="•"/>
            </a:pPr>
            <a:r>
              <a:rPr lang="en-US" sz="1200" dirty="0"/>
              <a:t>The order is b_t_b2_t2 corresponding to bottom and top rows of Page 1 followed by page 2</a:t>
            </a:r>
          </a:p>
          <a:p>
            <a:pPr marL="1085850" lvl="2" indent="-171450">
              <a:buFont typeface="Arial" panose="020B0604020202020204" pitchFamily="34" charset="0"/>
              <a:buChar char="•"/>
            </a:pPr>
            <a:endParaRPr lang="en-US" sz="1200" dirty="0"/>
          </a:p>
          <a:p>
            <a:pPr marL="1085850" lvl="2" indent="-171450">
              <a:buFont typeface="Arial" panose="020B0604020202020204" pitchFamily="34" charset="0"/>
              <a:buChar char="•"/>
            </a:pPr>
            <a:r>
              <a:rPr lang="en-US" sz="1200" dirty="0"/>
              <a:t>My usual configuration is: </a:t>
            </a:r>
            <a:r>
              <a:rPr lang="en-US" sz="1200" dirty="0" err="1"/>
              <a:t>buttons_variations_racks_buttons</a:t>
            </a:r>
            <a:r>
              <a:rPr lang="en-US" sz="1200" dirty="0"/>
              <a:t> which is also the default if no row configuration widget is specified</a:t>
            </a:r>
          </a:p>
          <a:p>
            <a:pPr marL="1085850" lvl="2" indent="-171450">
              <a:buFont typeface="Arial" panose="020B0604020202020204" pitchFamily="34" charset="0"/>
              <a:buChar char="•"/>
            </a:pPr>
            <a:endParaRPr lang="en-US" sz="1200" dirty="0"/>
          </a:p>
          <a:p>
            <a:pPr marL="628650" lvl="1" indent="-171450">
              <a:buFont typeface="Arial" panose="020B0604020202020204" pitchFamily="34" charset="0"/>
              <a:buChar char="•"/>
            </a:pPr>
            <a:r>
              <a:rPr lang="en-US" sz="1200" dirty="0"/>
              <a:t>If a </a:t>
            </a:r>
            <a:r>
              <a:rPr lang="en-US" sz="1200" dirty="0" err="1"/>
              <a:t>mcx_row_config</a:t>
            </a:r>
            <a:r>
              <a:rPr lang="en-US" sz="1200" dirty="0"/>
              <a:t> widget is present in a Rackspace the </a:t>
            </a:r>
            <a:r>
              <a:rPr lang="en-US" sz="1200" dirty="0" err="1"/>
              <a:t>MCx</a:t>
            </a:r>
            <a:r>
              <a:rPr lang="en-US" sz="1200" dirty="0"/>
              <a:t> will reflect that configuration upon Rackspace entry</a:t>
            </a:r>
          </a:p>
          <a:p>
            <a:pPr marL="628650" lvl="1" indent="-171450">
              <a:buFont typeface="Arial" panose="020B0604020202020204" pitchFamily="34" charset="0"/>
              <a:buChar char="•"/>
            </a:pPr>
            <a:r>
              <a:rPr lang="en-US" sz="1200" dirty="0"/>
              <a:t>The user can actively change what is shown on each row at any time using the Select footswitch buttons</a:t>
            </a:r>
          </a:p>
          <a:p>
            <a:pPr marL="628650" lvl="1" indent="-171450">
              <a:buFont typeface="Arial" panose="020B0604020202020204" pitchFamily="34" charset="0"/>
              <a:buChar char="•"/>
            </a:pPr>
            <a:r>
              <a:rPr lang="en-US" sz="1200" dirty="0"/>
              <a:t>If the Rackspace is then changed to a different Rackspace that does not have a </a:t>
            </a:r>
            <a:r>
              <a:rPr lang="en-US" sz="1200" dirty="0" err="1"/>
              <a:t>mcx_row_config</a:t>
            </a:r>
            <a:r>
              <a:rPr lang="en-US" sz="1200" dirty="0"/>
              <a:t> widget the MC8 will retain the current row configuration</a:t>
            </a:r>
          </a:p>
          <a:p>
            <a:pPr marL="628650" lvl="1" indent="-171450">
              <a:buFont typeface="Arial" panose="020B0604020202020204" pitchFamily="34" charset="0"/>
              <a:buChar char="•"/>
            </a:pPr>
            <a:endParaRPr lang="en-US" sz="1200" dirty="0"/>
          </a:p>
          <a:p>
            <a:pPr marL="628650" lvl="1" indent="-171450">
              <a:buFont typeface="Arial" panose="020B0604020202020204" pitchFamily="34" charset="0"/>
              <a:buChar char="•"/>
            </a:pPr>
            <a:r>
              <a:rPr lang="en-US" sz="1200" dirty="0"/>
              <a:t>Note that if an </a:t>
            </a:r>
            <a:r>
              <a:rPr lang="en-US" sz="1200" dirty="0" err="1"/>
              <a:t>mcx_row_config</a:t>
            </a:r>
            <a:r>
              <a:rPr lang="en-US" sz="1200" dirty="0"/>
              <a:t> widget exists in the global Rackspace the extension will pick that up on every Rackspace change</a:t>
            </a:r>
          </a:p>
          <a:p>
            <a:pPr marL="628650" lvl="1" indent="-171450">
              <a:buFont typeface="Arial" panose="020B0604020202020204" pitchFamily="34" charset="0"/>
              <a:buChar char="•"/>
            </a:pPr>
            <a:endParaRPr lang="en-US" sz="1200" dirty="0"/>
          </a:p>
          <a:p>
            <a:pPr marL="628650" lvl="1" indent="-171450">
              <a:buFont typeface="Arial" panose="020B0604020202020204" pitchFamily="34" charset="0"/>
              <a:buChar char="•"/>
            </a:pPr>
            <a:r>
              <a:rPr lang="en-US" sz="1200" dirty="0"/>
              <a:t>The </a:t>
            </a:r>
            <a:r>
              <a:rPr lang="en-US" sz="1200" dirty="0" err="1"/>
              <a:t>the</a:t>
            </a:r>
            <a:r>
              <a:rPr lang="en-US" sz="1200" dirty="0"/>
              <a:t> </a:t>
            </a:r>
            <a:r>
              <a:rPr lang="en-US" sz="1200" dirty="0" err="1"/>
              <a:t>mcx_initial_row_config</a:t>
            </a:r>
            <a:r>
              <a:rPr lang="en-US" sz="1200" dirty="0"/>
              <a:t> widget exists for users that want the MC8 switch rows to start with something other than the defaults at Gig loading, but not reset to that default every time a Rackspace is changed.  For this reason this configuration widget should be placed in the Global Rackspace if it is used</a:t>
            </a:r>
          </a:p>
          <a:p>
            <a:pPr marL="628650" lvl="1" indent="-171450">
              <a:buFont typeface="Arial" panose="020B0604020202020204" pitchFamily="34" charset="0"/>
              <a:buChar char="•"/>
            </a:pPr>
            <a:r>
              <a:rPr lang="en-US" sz="1200" dirty="0"/>
              <a:t>Personally, I do not use this widget.  I prefer to include an </a:t>
            </a:r>
            <a:r>
              <a:rPr lang="en-US" sz="1200" dirty="0" err="1"/>
              <a:t>mcx_row_config</a:t>
            </a:r>
            <a:r>
              <a:rPr lang="en-US" sz="1200" dirty="0"/>
              <a:t> widget in each Rackspace instead</a:t>
            </a:r>
          </a:p>
          <a:p>
            <a:pPr marL="628650" lvl="1" indent="-171450">
              <a:buFont typeface="Arial" panose="020B0604020202020204" pitchFamily="34" charset="0"/>
              <a:buChar char="•"/>
            </a:pPr>
            <a:endParaRPr lang="en-US" sz="1200" dirty="0"/>
          </a:p>
          <a:p>
            <a:pPr marL="628650" lvl="1" indent="-171450">
              <a:buFont typeface="Arial" panose="020B0604020202020204" pitchFamily="34" charset="0"/>
              <a:buChar char="•"/>
            </a:pPr>
            <a:endParaRPr lang="en-US" sz="1200" dirty="0"/>
          </a:p>
          <a:p>
            <a:pPr marL="628650" lvl="1" indent="-171450">
              <a:buFont typeface="Arial" panose="020B0604020202020204" pitchFamily="34" charset="0"/>
              <a:buChar char="•"/>
            </a:pPr>
            <a:endParaRPr lang="en-US" sz="1200" dirty="0"/>
          </a:p>
        </p:txBody>
      </p:sp>
    </p:spTree>
    <p:extLst>
      <p:ext uri="{BB962C8B-B14F-4D97-AF65-F5344CB8AC3E}">
        <p14:creationId xmlns:p14="http://schemas.microsoft.com/office/powerpoint/2010/main" val="22483448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3785652"/>
          </a:xfrm>
          <a:prstGeom prst="rect">
            <a:avLst/>
          </a:prstGeom>
          <a:noFill/>
        </p:spPr>
        <p:txBody>
          <a:bodyPr wrap="square" rtlCol="0">
            <a:spAutoFit/>
          </a:bodyPr>
          <a:lstStyle/>
          <a:p>
            <a:r>
              <a:rPr lang="en-US" sz="1200" b="1" dirty="0" err="1"/>
              <a:t>Expresion</a:t>
            </a:r>
            <a:r>
              <a:rPr lang="en-US" sz="1200" b="1" dirty="0"/>
              <a:t> Pedals</a:t>
            </a:r>
          </a:p>
          <a:p>
            <a:r>
              <a:rPr lang="en-US" sz="1200" dirty="0"/>
              <a:t>Expression pedals in the four </a:t>
            </a:r>
            <a:r>
              <a:rPr lang="en-US" sz="1200" dirty="0" err="1"/>
              <a:t>Omniports</a:t>
            </a:r>
            <a:r>
              <a:rPr lang="en-US" sz="1200" dirty="0"/>
              <a:t> can be assigned to widgets using the same general naming convention as the button widgets.</a:t>
            </a:r>
          </a:p>
          <a:p>
            <a:endParaRPr lang="en-US" sz="1200" dirty="0"/>
          </a:p>
          <a:p>
            <a:r>
              <a:rPr lang="en-US" sz="1200" dirty="0"/>
              <a:t>The format is:</a:t>
            </a:r>
          </a:p>
          <a:p>
            <a:r>
              <a:rPr lang="en-US" sz="1200" dirty="0"/>
              <a:t>		mcx_e1_bankID_0     mcx_e2_bankID_0      mcx_e3_bankID_0        mcx_e4_bankID_0</a:t>
            </a:r>
          </a:p>
          <a:p>
            <a:endParaRPr lang="en-US" sz="1200" dirty="0"/>
          </a:p>
          <a:p>
            <a:r>
              <a:rPr lang="en-US" sz="1200" dirty="0"/>
              <a:t>Note that if you have Aux switches connected to on </a:t>
            </a:r>
            <a:r>
              <a:rPr lang="en-US" sz="1200" dirty="0" err="1"/>
              <a:t>Omniport</a:t>
            </a:r>
            <a:r>
              <a:rPr lang="en-US" sz="1200" dirty="0"/>
              <a:t> then you can’t also have an expression pedal on the same </a:t>
            </a:r>
            <a:r>
              <a:rPr lang="en-US" sz="1200" dirty="0" err="1"/>
              <a:t>Omniport</a:t>
            </a:r>
            <a:r>
              <a:rPr lang="en-US" sz="1200" dirty="0"/>
              <a:t>.  The extension does not know what you actually have connected to the </a:t>
            </a:r>
            <a:r>
              <a:rPr lang="en-US" sz="1200" dirty="0" err="1"/>
              <a:t>MCx</a:t>
            </a:r>
            <a:r>
              <a:rPr lang="en-US" sz="1200" dirty="0"/>
              <a:t>, so use the names as appropriate for the </a:t>
            </a:r>
            <a:r>
              <a:rPr lang="en-US" sz="1200" dirty="0" err="1"/>
              <a:t>Omniports</a:t>
            </a:r>
            <a:r>
              <a:rPr lang="en-US" sz="1200" dirty="0"/>
              <a:t> your expression pedals are actively connected to.</a:t>
            </a:r>
          </a:p>
          <a:p>
            <a:endParaRPr lang="en-US" sz="1200" dirty="0"/>
          </a:p>
          <a:p>
            <a:r>
              <a:rPr lang="en-US" sz="1200" b="1" dirty="0"/>
              <a:t>This extension currently provides no individual </a:t>
            </a:r>
            <a:r>
              <a:rPr lang="en-US" sz="1200" b="1" dirty="0" err="1"/>
              <a:t>BankID</a:t>
            </a:r>
            <a:r>
              <a:rPr lang="en-US" sz="1200" b="1" dirty="0"/>
              <a:t> switching mechanism for expression pedals</a:t>
            </a:r>
            <a:r>
              <a:rPr lang="en-US" sz="1200" dirty="0"/>
              <a:t>.  If you create more than one bank for any of the four expression pedals the extension will initially attach to the first </a:t>
            </a:r>
            <a:r>
              <a:rPr lang="en-US" sz="1200" dirty="0" err="1"/>
              <a:t>BankID</a:t>
            </a:r>
            <a:r>
              <a:rPr lang="en-US" sz="1200" dirty="0"/>
              <a:t> in alphabetical order.</a:t>
            </a:r>
          </a:p>
          <a:p>
            <a:endParaRPr lang="en-US" sz="1200" dirty="0"/>
          </a:p>
          <a:p>
            <a:r>
              <a:rPr lang="en-US" sz="1200" dirty="0"/>
              <a:t>It is possible to have the same expression pedal control different things at different times within the same Rackspace by using the same </a:t>
            </a:r>
            <a:r>
              <a:rPr lang="en-US" sz="1200" dirty="0" err="1"/>
              <a:t>BankIDs</a:t>
            </a:r>
            <a:r>
              <a:rPr lang="en-US" sz="1200" dirty="0"/>
              <a:t> as widgets assigned the button rows, but this will only be controlled using “Bank Synchronization” as described in the next section.</a:t>
            </a:r>
          </a:p>
          <a:p>
            <a:endParaRPr lang="en-US" sz="1200" dirty="0"/>
          </a:p>
          <a:p>
            <a:r>
              <a:rPr lang="en-US" sz="1200" dirty="0"/>
              <a:t>If you want your expression pedals to always control the same thing in a Rackspace (e.g., master volume) then you should use a unique </a:t>
            </a:r>
            <a:r>
              <a:rPr lang="en-US" sz="1200" dirty="0" err="1"/>
              <a:t>BankID</a:t>
            </a:r>
            <a:r>
              <a:rPr lang="en-US" sz="1200" dirty="0"/>
              <a:t> for that.</a:t>
            </a:r>
          </a:p>
        </p:txBody>
      </p:sp>
    </p:spTree>
    <p:extLst>
      <p:ext uri="{BB962C8B-B14F-4D97-AF65-F5344CB8AC3E}">
        <p14:creationId xmlns:p14="http://schemas.microsoft.com/office/powerpoint/2010/main" val="9837761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6032421"/>
          </a:xfrm>
          <a:prstGeom prst="rect">
            <a:avLst/>
          </a:prstGeom>
          <a:noFill/>
        </p:spPr>
        <p:txBody>
          <a:bodyPr wrap="square" rtlCol="0">
            <a:spAutoFit/>
          </a:bodyPr>
          <a:lstStyle/>
          <a:p>
            <a:pPr lvl="1"/>
            <a:endParaRPr lang="en-US" sz="1200" dirty="0"/>
          </a:p>
          <a:p>
            <a:r>
              <a:rPr lang="en-US" sz="1400" b="1" dirty="0"/>
              <a:t>Bank </a:t>
            </a:r>
            <a:r>
              <a:rPr lang="en-US" sz="1400" b="1" dirty="0" err="1"/>
              <a:t>Syncronization</a:t>
            </a:r>
            <a:endParaRPr lang="en-US" sz="1400" b="1" dirty="0"/>
          </a:p>
          <a:p>
            <a:endParaRPr lang="en-US" sz="1200" b="1" dirty="0"/>
          </a:p>
          <a:p>
            <a:r>
              <a:rPr lang="en-US" sz="1200" dirty="0"/>
              <a:t>Often it is preferable to have fully independent control of what is on the bottom and top button rows, but other times it is preferable to have the two linked.  Linking the two rows tends to be convenient when selecting Songs or Rackspace changes, as it allows you to page between 8 (for the MC8) or 6 (for the MC6) options at a time rather than half that number.</a:t>
            </a:r>
          </a:p>
          <a:p>
            <a:endParaRPr lang="en-US" sz="1200" dirty="0"/>
          </a:p>
          <a:p>
            <a:r>
              <a:rPr lang="en-US" sz="1200" dirty="0"/>
              <a:t>For Racks, Songs, Variations, and </a:t>
            </a:r>
            <a:r>
              <a:rPr lang="en-US" sz="1200" dirty="0" err="1"/>
              <a:t>Songparts</a:t>
            </a:r>
            <a:r>
              <a:rPr lang="en-US" sz="1200" dirty="0"/>
              <a:t> it works like this:</a:t>
            </a:r>
          </a:p>
          <a:p>
            <a:pPr marL="628650" lvl="1" indent="-171450">
              <a:buFont typeface="Arial" panose="020B0604020202020204" pitchFamily="34" charset="0"/>
              <a:buChar char="•"/>
            </a:pPr>
            <a:r>
              <a:rPr lang="en-US" sz="1200" dirty="0"/>
              <a:t>If both the top and bottom Rows are toggled to show the same thing (e.g., Racks, Songs) then those rows will automatically become temporarily linked if you page forward or back through them</a:t>
            </a:r>
          </a:p>
          <a:p>
            <a:pPr marL="628650" lvl="1" indent="-171450">
              <a:buFont typeface="Arial" panose="020B0604020202020204" pitchFamily="34" charset="0"/>
              <a:buChar char="•"/>
            </a:pPr>
            <a:r>
              <a:rPr lang="en-US" sz="1200" dirty="0"/>
              <a:t>You can use long-presses or Aux switches to page forward on either row, and both rows will advance</a:t>
            </a:r>
          </a:p>
          <a:p>
            <a:pPr marL="628650" lvl="1" indent="-171450">
              <a:buFont typeface="Arial" panose="020B0604020202020204" pitchFamily="34" charset="0"/>
              <a:buChar char="•"/>
            </a:pPr>
            <a:r>
              <a:rPr lang="en-US" sz="1200" dirty="0"/>
              <a:t>If you manually select something different to show on either row they will become de-linked and each row will resume being paged independently</a:t>
            </a:r>
          </a:p>
          <a:p>
            <a:pPr marL="628650" lvl="1" indent="-171450">
              <a:buFont typeface="Arial" panose="020B0604020202020204" pitchFamily="34" charset="0"/>
              <a:buChar char="•"/>
            </a:pPr>
            <a:r>
              <a:rPr lang="en-US" sz="1200" dirty="0"/>
              <a:t>Note that if you change </a:t>
            </a:r>
            <a:r>
              <a:rPr lang="en-US" sz="1200" dirty="0" err="1"/>
              <a:t>Rackspaces</a:t>
            </a:r>
            <a:r>
              <a:rPr lang="en-US" sz="1200" dirty="0"/>
              <a:t> (including by changing songs) and the new </a:t>
            </a:r>
            <a:r>
              <a:rPr lang="en-US" sz="1200" dirty="0" err="1"/>
              <a:t>rackspace</a:t>
            </a:r>
            <a:r>
              <a:rPr lang="en-US" sz="1200" dirty="0"/>
              <a:t> contains a “</a:t>
            </a:r>
            <a:r>
              <a:rPr lang="en-US" sz="1200" dirty="0" err="1"/>
              <a:t>mcx_row_config</a:t>
            </a:r>
            <a:r>
              <a:rPr lang="en-US" sz="1200" dirty="0"/>
              <a:t>” widget the row and button assignments will automatically change on </a:t>
            </a:r>
            <a:r>
              <a:rPr lang="en-US" sz="1200" dirty="0" err="1"/>
              <a:t>rackspace</a:t>
            </a:r>
            <a:r>
              <a:rPr lang="en-US" sz="1200" dirty="0"/>
              <a:t> activation</a:t>
            </a:r>
          </a:p>
          <a:p>
            <a:pPr marL="628650" lvl="1" indent="-171450">
              <a:buFont typeface="Arial" panose="020B0604020202020204" pitchFamily="34" charset="0"/>
              <a:buChar char="•"/>
            </a:pPr>
            <a:endParaRPr lang="en-US" sz="1200" dirty="0"/>
          </a:p>
          <a:p>
            <a:r>
              <a:rPr lang="en-US" sz="1200" dirty="0"/>
              <a:t>For Widgets</a:t>
            </a:r>
          </a:p>
          <a:p>
            <a:pPr marL="628650" lvl="1" indent="-171450">
              <a:buFont typeface="Arial" panose="020B0604020202020204" pitchFamily="34" charset="0"/>
              <a:buChar char="•"/>
            </a:pPr>
            <a:r>
              <a:rPr lang="en-US" sz="1200" dirty="0"/>
              <a:t>Each time you change which widgets are shown on a row (cycling through them by </a:t>
            </a:r>
            <a:r>
              <a:rPr lang="en-US" sz="1200" dirty="0" err="1"/>
              <a:t>BankID</a:t>
            </a:r>
            <a:r>
              <a:rPr lang="en-US" sz="1200" dirty="0"/>
              <a:t>) the extension will automatically look for widgets using that same </a:t>
            </a:r>
            <a:r>
              <a:rPr lang="en-US" sz="1200" dirty="0" err="1"/>
              <a:t>BankID</a:t>
            </a:r>
            <a:r>
              <a:rPr lang="en-US" sz="1200" dirty="0"/>
              <a:t> on other rows.  If it finds any, it will switch that row to them</a:t>
            </a:r>
          </a:p>
          <a:p>
            <a:pPr marL="628650" lvl="1" indent="-171450">
              <a:buFont typeface="Arial" panose="020B0604020202020204" pitchFamily="34" charset="0"/>
              <a:buChar char="•"/>
            </a:pPr>
            <a:r>
              <a:rPr lang="en-US" sz="1200" dirty="0"/>
              <a:t>If you never want this to happen, then don’t use the same </a:t>
            </a:r>
            <a:r>
              <a:rPr lang="en-US" sz="1200" dirty="0" err="1"/>
              <a:t>BankIDs</a:t>
            </a:r>
            <a:r>
              <a:rPr lang="en-US" sz="1200" dirty="0"/>
              <a:t> on your different rows.</a:t>
            </a:r>
          </a:p>
          <a:p>
            <a:pPr marL="628650" lvl="1" indent="-171450">
              <a:buFont typeface="Arial" panose="020B0604020202020204" pitchFamily="34" charset="0"/>
              <a:buChar char="•"/>
            </a:pPr>
            <a:r>
              <a:rPr lang="en-US" sz="1200" dirty="0"/>
              <a:t>e.g., if you have widgets “mcx_t_fx_0..3” and “mcx_b_fx_0..3” then if both rows are currently showing widgets, and you page either row to the “</a:t>
            </a:r>
            <a:r>
              <a:rPr lang="en-US" sz="1200" dirty="0" err="1"/>
              <a:t>fx</a:t>
            </a:r>
            <a:r>
              <a:rPr lang="en-US" sz="1200" dirty="0"/>
              <a:t>” bank then both rows will switch to the “</a:t>
            </a:r>
            <a:r>
              <a:rPr lang="en-US" sz="1200" dirty="0" err="1"/>
              <a:t>fx</a:t>
            </a:r>
            <a:r>
              <a:rPr lang="en-US" sz="1200" dirty="0"/>
              <a:t>” bank</a:t>
            </a:r>
          </a:p>
          <a:p>
            <a:pPr marL="628650" lvl="1" indent="-171450">
              <a:buFont typeface="Arial" panose="020B0604020202020204" pitchFamily="34" charset="0"/>
              <a:buChar char="•"/>
            </a:pPr>
            <a:r>
              <a:rPr lang="en-US" sz="1200" dirty="0"/>
              <a:t>This includes expression pedals, which offer no other mechanism to switch banks.  If you want your expression pedals always controlling the same thing in a Rackspace, give them unique </a:t>
            </a:r>
            <a:r>
              <a:rPr lang="en-US" sz="1200" dirty="0" err="1"/>
              <a:t>BankIDs</a:t>
            </a:r>
            <a:endParaRPr lang="en-US" sz="1200" dirty="0"/>
          </a:p>
          <a:p>
            <a:pPr marL="628650" lvl="1" indent="-171450">
              <a:buFont typeface="Arial" panose="020B0604020202020204" pitchFamily="34" charset="0"/>
              <a:buChar char="•"/>
            </a:pPr>
            <a:endParaRPr lang="en-US" sz="1200" dirty="0"/>
          </a:p>
          <a:p>
            <a:r>
              <a:rPr lang="en-US" sz="1200" dirty="0"/>
              <a:t>Forced Sync</a:t>
            </a:r>
          </a:p>
          <a:p>
            <a:pPr marL="628650" lvl="1" indent="-171450">
              <a:buFont typeface="Arial" panose="020B0604020202020204" pitchFamily="34" charset="0"/>
              <a:buChar char="•"/>
            </a:pPr>
            <a:r>
              <a:rPr lang="en-US" sz="1200" dirty="0"/>
              <a:t>Using Aux switches, generally the middle button is assigned to toggle what is displayed on a row (e.g., widgets, Racks, Variations).  A long press of the middle button will force both rows to whatever is being toggled to</a:t>
            </a:r>
          </a:p>
          <a:p>
            <a:pPr marL="628650" lvl="1" indent="-171450">
              <a:buFont typeface="Arial" panose="020B0604020202020204" pitchFamily="34" charset="0"/>
              <a:buChar char="•"/>
            </a:pPr>
            <a:r>
              <a:rPr lang="en-US" sz="1200" dirty="0"/>
              <a:t>A typical use of this would be when a Song is over and another is to be chosen you can long-press either row select button to get into displaying songs on both rows quickly.  If you have a “</a:t>
            </a:r>
            <a:r>
              <a:rPr lang="en-US" sz="1200" dirty="0" err="1"/>
              <a:t>mcx_row_config</a:t>
            </a:r>
            <a:r>
              <a:rPr lang="en-US" sz="1200" dirty="0"/>
              <a:t>” widget on the Rackspace you switch to then the </a:t>
            </a:r>
            <a:r>
              <a:rPr lang="en-US" sz="1200" dirty="0" err="1"/>
              <a:t>MCx</a:t>
            </a:r>
            <a:r>
              <a:rPr lang="en-US" sz="1200" dirty="0"/>
              <a:t> will automatically go back to displaying your preferred controls after song selection</a:t>
            </a:r>
          </a:p>
          <a:p>
            <a:pPr marL="628650" lvl="1" indent="-171450">
              <a:buFont typeface="Arial" panose="020B0604020202020204" pitchFamily="34" charset="0"/>
              <a:buChar char="•"/>
            </a:pPr>
            <a:r>
              <a:rPr lang="en-US" sz="1200" dirty="0"/>
              <a:t>If you don’t use Aux switches this can be done using double-presses of the row select buttons</a:t>
            </a:r>
          </a:p>
        </p:txBody>
      </p:sp>
    </p:spTree>
    <p:extLst>
      <p:ext uri="{BB962C8B-B14F-4D97-AF65-F5344CB8AC3E}">
        <p14:creationId xmlns:p14="http://schemas.microsoft.com/office/powerpoint/2010/main" val="15556420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3447098"/>
          </a:xfrm>
          <a:prstGeom prst="rect">
            <a:avLst/>
          </a:prstGeom>
          <a:noFill/>
        </p:spPr>
        <p:txBody>
          <a:bodyPr wrap="square" rtlCol="0">
            <a:spAutoFit/>
          </a:bodyPr>
          <a:lstStyle/>
          <a:p>
            <a:pPr lvl="1"/>
            <a:endParaRPr lang="en-US" sz="1200" dirty="0"/>
          </a:p>
          <a:p>
            <a:r>
              <a:rPr lang="en-US" sz="1400" b="1" dirty="0"/>
              <a:t>Other Notes</a:t>
            </a:r>
          </a:p>
          <a:p>
            <a:endParaRPr lang="en-US" sz="1200" b="1" dirty="0"/>
          </a:p>
          <a:p>
            <a:r>
              <a:rPr lang="en-US" sz="1200" b="1" dirty="0"/>
              <a:t>Pages</a:t>
            </a:r>
            <a:r>
              <a:rPr lang="en-US" sz="1200" dirty="0"/>
              <a:t> – the MC8 contains two pages, the MC6 Pro hardware contains four.  This extension utilizes only two pages, and the “Page” functions will toggle between them.  </a:t>
            </a:r>
          </a:p>
          <a:p>
            <a:endParaRPr lang="en-US" sz="1200" dirty="0"/>
          </a:p>
          <a:p>
            <a:r>
              <a:rPr lang="en-US" sz="1200" b="1" dirty="0"/>
              <a:t>MC6 Pro Colors </a:t>
            </a:r>
            <a:r>
              <a:rPr lang="en-US" sz="1200" dirty="0"/>
              <a:t>– </a:t>
            </a:r>
          </a:p>
          <a:p>
            <a:r>
              <a:rPr lang="en-US" sz="1200" dirty="0"/>
              <a:t>Colors on the MC6 Pro are not fully controllable through the </a:t>
            </a:r>
            <a:r>
              <a:rPr lang="en-US" sz="1200" dirty="0" err="1"/>
              <a:t>MCx</a:t>
            </a:r>
            <a:r>
              <a:rPr lang="en-US" sz="1200" dirty="0"/>
              <a:t> extension at this time.  The Morningstar developers expect this ability to be added soon, at which point the extension will be adjusted to allow widgets to control display colors on a preset basis.</a:t>
            </a:r>
          </a:p>
          <a:p>
            <a:endParaRPr lang="en-US" sz="1200" dirty="0"/>
          </a:p>
          <a:p>
            <a:r>
              <a:rPr lang="en-US" sz="1200" dirty="0"/>
              <a:t>Currently the extension has the ability to control the center bar color in a limited way.  It is set up now so that the center bar becomes orange when </a:t>
            </a:r>
            <a:r>
              <a:rPr lang="en-US" sz="1200" dirty="0" err="1"/>
              <a:t>GigPerformer</a:t>
            </a:r>
            <a:r>
              <a:rPr lang="en-US" sz="1200" dirty="0"/>
              <a:t> is in Setlist mode and purple when it is not.  Presets on page one are green, page two is red.  This can be changed by editing the MC6 Pro preset.  You should be able to figure this out and change them pretty quickly using the Morningstar Editor.  I’m not going into detailed instructions at this point because I expect it all to change in the next version or two of the MC6 Pro firmware.</a:t>
            </a:r>
          </a:p>
          <a:p>
            <a:pPr marL="628650" lvl="1" indent="-171450">
              <a:buFont typeface="Arial" panose="020B0604020202020204" pitchFamily="34" charset="0"/>
              <a:buChar char="•"/>
            </a:pPr>
            <a:endParaRPr lang="en-US" sz="1200" dirty="0"/>
          </a:p>
          <a:p>
            <a:r>
              <a:rPr lang="en-US" sz="1200" b="1" dirty="0"/>
              <a:t>MC8 Pro </a:t>
            </a:r>
            <a:r>
              <a:rPr lang="en-US" sz="1200" dirty="0"/>
              <a:t>– Morningstar currently expect an MC8 Pro to be released late in 2024, but that is speculative at this time.</a:t>
            </a:r>
          </a:p>
        </p:txBody>
      </p:sp>
    </p:spTree>
    <p:extLst>
      <p:ext uri="{BB962C8B-B14F-4D97-AF65-F5344CB8AC3E}">
        <p14:creationId xmlns:p14="http://schemas.microsoft.com/office/powerpoint/2010/main" val="196065774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1534</TotalTime>
  <Words>4839</Words>
  <Application>Microsoft Office PowerPoint</Application>
  <PresentationFormat>On-screen Show (4:3)</PresentationFormat>
  <Paragraphs>271</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Widner, Michael</dc:creator>
  <cp:lastModifiedBy>Michael Widner</cp:lastModifiedBy>
  <cp:revision>60</cp:revision>
  <cp:lastPrinted>2023-03-08T21:03:51Z</cp:lastPrinted>
  <dcterms:created xsi:type="dcterms:W3CDTF">2022-09-01T12:48:40Z</dcterms:created>
  <dcterms:modified xsi:type="dcterms:W3CDTF">2025-12-29T04:45:48Z</dcterms:modified>
</cp:coreProperties>
</file>